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2" r:id="rId1"/>
  </p:sldMasterIdLst>
  <p:notesMasterIdLst>
    <p:notesMasterId r:id="rId33"/>
  </p:notesMasterIdLst>
  <p:handoutMasterIdLst>
    <p:handoutMasterId r:id="rId34"/>
  </p:handoutMasterIdLst>
  <p:sldIdLst>
    <p:sldId id="256" r:id="rId2"/>
    <p:sldId id="292" r:id="rId3"/>
    <p:sldId id="262" r:id="rId4"/>
    <p:sldId id="278" r:id="rId5"/>
    <p:sldId id="280" r:id="rId6"/>
    <p:sldId id="275" r:id="rId7"/>
    <p:sldId id="265" r:id="rId8"/>
    <p:sldId id="266" r:id="rId9"/>
    <p:sldId id="274" r:id="rId10"/>
    <p:sldId id="287" r:id="rId11"/>
    <p:sldId id="293" r:id="rId12"/>
    <p:sldId id="295" r:id="rId13"/>
    <p:sldId id="294" r:id="rId14"/>
    <p:sldId id="269" r:id="rId15"/>
    <p:sldId id="286" r:id="rId16"/>
    <p:sldId id="276" r:id="rId17"/>
    <p:sldId id="283" r:id="rId18"/>
    <p:sldId id="284" r:id="rId19"/>
    <p:sldId id="281" r:id="rId20"/>
    <p:sldId id="267" r:id="rId21"/>
    <p:sldId id="268" r:id="rId22"/>
    <p:sldId id="291" r:id="rId23"/>
    <p:sldId id="290" r:id="rId24"/>
    <p:sldId id="260" r:id="rId25"/>
    <p:sldId id="261" r:id="rId26"/>
    <p:sldId id="257" r:id="rId27"/>
    <p:sldId id="277" r:id="rId28"/>
    <p:sldId id="282" r:id="rId29"/>
    <p:sldId id="271" r:id="rId30"/>
    <p:sldId id="288" r:id="rId31"/>
    <p:sldId id="263" r:id="rId32"/>
  </p:sldIdLst>
  <p:sldSz cx="128016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pos="403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89" autoAdjust="0"/>
    <p:restoredTop sz="93073" autoAdjust="0"/>
  </p:normalViewPr>
  <p:slideViewPr>
    <p:cSldViewPr>
      <p:cViewPr varScale="1">
        <p:scale>
          <a:sx n="80" d="100"/>
          <a:sy n="80" d="100"/>
        </p:scale>
        <p:origin x="528" y="62"/>
      </p:cViewPr>
      <p:guideLst>
        <p:guide orient="horz" pos="2160"/>
        <p:guide pos="2880"/>
        <p:guide pos="403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04B6D3-D0B0-4AE0-AB55-A729B559FF6B}" type="datetimeFigureOut">
              <a:rPr lang="en-US" smtClean="0"/>
              <a:t>2/19/2021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7DC8D7-D0CB-4461-8917-F86C6E9F7A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10560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5710E9-5654-4A02-B959-AD381493B9AA}" type="datetimeFigureOut">
              <a:rPr lang="en-US" smtClean="0"/>
              <a:t>2/19/2021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8600" y="685800"/>
            <a:ext cx="64008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D3B987-8341-417F-BB40-0697D304DA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81556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8600" y="685800"/>
            <a:ext cx="64008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D3B987-8341-417F-BB40-0697D304DAF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8545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D3B987-8341-417F-BB40-0697D304DAF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3102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8600" y="685800"/>
            <a:ext cx="64008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http://grepcode.com/file/repository.grepcode.com/java/eclipse.org/3.5/org.eclipse/osgi/3.5.0/org/osgi/framework/BundleContext.java#BundleContext.getBundle%28long%29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D3B987-8341-417F-BB40-0697D304DAFC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41064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0120" y="2130426"/>
            <a:ext cx="1088136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0240" y="3886200"/>
            <a:ext cx="896112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SA (SLIIT)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By Udara Samaratunge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25E54-448D-4B5B-9AD6-EE5883ED7E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4906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SA (SLIIT)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By Udara Samaratunge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25E54-448D-4B5B-9AD6-EE5883ED7E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1560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1238" y="4406901"/>
            <a:ext cx="1088136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1238" y="2906713"/>
            <a:ext cx="1088136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SA (SLIIT)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By Udara Samaratunge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25E54-448D-4B5B-9AD6-EE5883ED7E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9142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0080" y="1600201"/>
            <a:ext cx="565404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7480" y="1600201"/>
            <a:ext cx="565404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SA (SLIIT)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By Udara Samaratunge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25E54-448D-4B5B-9AD6-EE5883ED7E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66785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0080" y="1535113"/>
            <a:ext cx="565626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0080" y="2174875"/>
            <a:ext cx="565626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03036" y="1535113"/>
            <a:ext cx="565848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03036" y="2174875"/>
            <a:ext cx="565848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SA (SLIIT)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By Udara Samaratunge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25E54-448D-4B5B-9AD6-EE5883ED7E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66931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SA (SLIIT)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By Udara Samaratunge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25E54-448D-4B5B-9AD6-EE5883ED7E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3405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SA (SLIIT)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By Udara Samaratunge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25E54-448D-4B5B-9AD6-EE5883ED7E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6904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1" y="273050"/>
            <a:ext cx="4211638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05070" y="273051"/>
            <a:ext cx="71564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0081" y="1435101"/>
            <a:ext cx="4211638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SA (SLIIT)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By Udara Samaratunge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25E54-448D-4B5B-9AD6-EE5883ED7E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9060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09203" y="4800600"/>
            <a:ext cx="768096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509203" y="612775"/>
            <a:ext cx="768096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09203" y="5367338"/>
            <a:ext cx="768096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SA (SLIIT)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By Udara Samaratunge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25E54-448D-4B5B-9AD6-EE5883ED7E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6900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SA (SLIIT)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By Udara Samaratunge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25E54-448D-4B5B-9AD6-EE5883ED7E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4057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81160" y="274639"/>
            <a:ext cx="288036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40080" y="274639"/>
            <a:ext cx="842772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SA (SLIIT)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By Udara Samaratunge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25E54-448D-4B5B-9AD6-EE5883ED7E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8389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0080" y="274638"/>
            <a:ext cx="1152144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0080" y="1600201"/>
            <a:ext cx="1152144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0080" y="6356351"/>
            <a:ext cx="29870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SA (SLIIT)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373880" y="6356351"/>
            <a:ext cx="4053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By Udara Samaratunge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174480" y="6356351"/>
            <a:ext cx="29870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B25E54-448D-4B5B-9AD6-EE5883ED7E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7405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://felix.apache.org/site/apache-felix-framework-usage-documentation.html" TargetMode="External"/><Relationship Id="rId2" Type="http://schemas.openxmlformats.org/officeDocument/2006/relationships/hyperlink" Target="http://grepcode.com/file/repository.grepcode.com/java/eclipse.org/3.5/org.eclipse/osgi/3.5.0/org/osgi/framework/BundleContext.java#BundleContext.getBundle%28long%29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587240" y="6400801"/>
            <a:ext cx="4053840" cy="365125"/>
          </a:xfrm>
        </p:spPr>
        <p:txBody>
          <a:bodyPr/>
          <a:lstStyle/>
          <a:p>
            <a:r>
              <a:rPr lang="en-US" i="1" dirty="0"/>
              <a:t>By Udara Samaratunge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25E54-448D-4B5B-9AD6-EE5883ED7EEA}" type="slidenum">
              <a:rPr lang="en-US" smtClean="0"/>
              <a:t>1</a:t>
            </a:fld>
            <a:endParaRPr lang="en-US"/>
          </a:p>
        </p:txBody>
      </p:sp>
      <p:pic>
        <p:nvPicPr>
          <p:cNvPr id="7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2600" y="606733"/>
            <a:ext cx="1463040" cy="15182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2346960" y="4495801"/>
            <a:ext cx="834237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Architecture</a:t>
            </a:r>
          </a:p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24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rd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Year – Semester 1</a:t>
            </a:r>
          </a:p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Udara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Samaratunge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2514600" y="2438400"/>
            <a:ext cx="7772400" cy="1981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Microkernel Architecture (Plugin-architecture Pattern)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SA (SLIIT)</a:t>
            </a:r>
          </a:p>
        </p:txBody>
      </p:sp>
    </p:spTree>
    <p:extLst>
      <p:ext uri="{BB962C8B-B14F-4D97-AF65-F5344CB8AC3E}">
        <p14:creationId xmlns:p14="http://schemas.microsoft.com/office/powerpoint/2010/main" val="35626537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Plugin-architecture Pattern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1600201"/>
            <a:ext cx="5989320" cy="4525963"/>
          </a:xfrm>
        </p:spPr>
        <p:txBody>
          <a:bodyPr>
            <a:normAutofit fontScale="92500" lnSpcReduction="10000"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Components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System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Plugin module</a:t>
            </a:r>
          </a:p>
          <a:p>
            <a:pPr lvl="1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plug-in modules are stand-alone, independent components.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Core system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needs to know about which plug-in modules are available (uses Plugin registry)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OSGi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represents  Microkernel Architecture for its plugin development.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SA (SLIIT)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By Udara Samaratunge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25E54-448D-4B5B-9AD6-EE5883ED7EEA}" type="slidenum">
              <a:rPr lang="en-US" smtClean="0"/>
              <a:t>2</a:t>
            </a:fld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5600" y="1981201"/>
            <a:ext cx="5655946" cy="3381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357243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152400"/>
            <a:ext cx="11521440" cy="868362"/>
          </a:xfrm>
        </p:spPr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OSGi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0040" y="1173956"/>
            <a:ext cx="12161520" cy="5029200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OSGi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(Open Services Gateway initiative)</a:t>
            </a:r>
          </a:p>
          <a:p>
            <a:pPr algn="just"/>
            <a:endParaRPr lang="en-US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OSGi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framework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which allows </a:t>
            </a:r>
            <a:r>
              <a:rPr lang="en-US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modular development of applications using java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Java framework for developing (remotely) deployed service applications, that require:</a:t>
            </a: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Reliability</a:t>
            </a: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 scale distribution</a:t>
            </a: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Wide range of devices</a:t>
            </a: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Collaborative</a:t>
            </a:r>
          </a:p>
          <a:p>
            <a:pPr lvl="1"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through a collaboration of industry leaders</a:t>
            </a: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IBM, Ericsson, Nokia, Sony,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Telcordia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Samsung,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ProSyst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lvl="1" algn="just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Gatespace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BenQ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Nortel, Oracle, Sybase, Espial, and many more</a:t>
            </a:r>
          </a:p>
          <a:p>
            <a:pPr marL="0" indent="0" algn="just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By Udara Samaratunge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25E54-448D-4B5B-9AD6-EE5883ED7EEA}" type="slidenum">
              <a:rPr lang="en-US" smtClean="0"/>
              <a:t>3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SA (SLIIT)</a:t>
            </a:r>
          </a:p>
        </p:txBody>
      </p:sp>
    </p:spTree>
    <p:extLst>
      <p:ext uri="{BB962C8B-B14F-4D97-AF65-F5344CB8AC3E}">
        <p14:creationId xmlns:p14="http://schemas.microsoft.com/office/powerpoint/2010/main" val="39811923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0040" y="304800"/>
            <a:ext cx="12268200" cy="6019800"/>
          </a:xfrm>
        </p:spPr>
        <p:txBody>
          <a:bodyPr>
            <a:normAutofit fontScale="70000" lnSpcReduction="20000"/>
          </a:bodyPr>
          <a:lstStyle/>
          <a:p>
            <a:pPr algn="just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OSGi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containers allow you to </a:t>
            </a:r>
            <a:r>
              <a:rPr lang="en-US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break your application into individual modules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(are jar files with additional meta information and called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bundles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OSGi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terminology)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 the </a:t>
            </a:r>
            <a:r>
              <a:rPr lang="en-US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cross-dependencies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between modules.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OSGi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framework then offers you dynamic loading/unloading, configuration and control of these bundles - without requiring restarts.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Major Framework vendors are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ProSyst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Gate space Telematics, and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IBM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Siemens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Espial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Open source implementations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Apache Felix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Eclipse Equinox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Gate space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Knopflerfish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By Udara Samaratunge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25E54-448D-4B5B-9AD6-EE5883ED7EEA}" type="slidenum">
              <a:rPr lang="en-US" smtClean="0"/>
              <a:t>4</a:t>
            </a:fld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SA (SLIIT)</a:t>
            </a:r>
          </a:p>
        </p:txBody>
      </p:sp>
    </p:spTree>
    <p:extLst>
      <p:ext uri="{BB962C8B-B14F-4D97-AF65-F5344CB8AC3E}">
        <p14:creationId xmlns:p14="http://schemas.microsoft.com/office/powerpoint/2010/main" val="6968084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76200"/>
            <a:ext cx="11521440" cy="11430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OSGi</a:t>
            </a:r>
            <a:r>
              <a:rPr 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Platform vs Service Oriented Architectures (SOA)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81200"/>
            <a:ext cx="6979920" cy="4048126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Separate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contract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the </a:t>
            </a:r>
            <a:r>
              <a:rPr lang="en-US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alternate implementations</a:t>
            </a:r>
          </a:p>
          <a:p>
            <a:r>
              <a:rPr lang="en-US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Dynamically discover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bind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available implementations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Binding based on </a:t>
            </a:r>
            <a:r>
              <a:rPr lang="en-US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contract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(interface definitions)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Components are </a:t>
            </a:r>
            <a:r>
              <a:rPr lang="en-US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reusable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Components are not coupled to implementation details of other components, only their independent interfaces have to be known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By Udara Samaratunge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25E54-448D-4B5B-9AD6-EE5883ED7EEA}" type="slidenum">
              <a:rPr lang="en-US" smtClean="0"/>
              <a:t>5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752600"/>
            <a:ext cx="4206240" cy="4048125"/>
          </a:xfrm>
          <a:prstGeom prst="rect">
            <a:avLst/>
          </a:prstGeom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SA (SLIIT)</a:t>
            </a:r>
          </a:p>
        </p:txBody>
      </p:sp>
    </p:spTree>
    <p:extLst>
      <p:ext uri="{BB962C8B-B14F-4D97-AF65-F5344CB8AC3E}">
        <p14:creationId xmlns:p14="http://schemas.microsoft.com/office/powerpoint/2010/main" val="40681569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7613" y="0"/>
            <a:ext cx="11521440" cy="91440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OSGi</a:t>
            </a:r>
            <a:r>
              <a:rPr 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Framework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8721" y="4038600"/>
            <a:ext cx="12272838" cy="2286000"/>
          </a:xfrm>
        </p:spPr>
        <p:txBody>
          <a:bodyPr>
            <a:no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Mediates between communication &amp; collaborations between applications.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life cycle management (install, start, stop, update,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Policy free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Policies are provided by bundles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By Udara Samaratunge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25E54-448D-4B5B-9AD6-EE5883ED7EEA}" type="slidenum">
              <a:rPr lang="en-US" smtClean="0"/>
              <a:t>6</a:t>
            </a:fld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0960" y="1219200"/>
            <a:ext cx="4865134" cy="25765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Content Placeholder 2"/>
          <p:cNvSpPr txBox="1">
            <a:spLocks/>
          </p:cNvSpPr>
          <p:nvPr/>
        </p:nvSpPr>
        <p:spPr>
          <a:xfrm>
            <a:off x="208720" y="1066800"/>
            <a:ext cx="7685600" cy="312420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applications to share a single Java VM.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all class loading in a much better defined way than standard Java.</a:t>
            </a:r>
          </a:p>
          <a:p>
            <a:pPr lvl="1"/>
            <a:r>
              <a:rPr lang="en-US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Versioning!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Gives </a:t>
            </a:r>
            <a:r>
              <a:rPr lang="en-US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isolation/security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between applications.</a:t>
            </a:r>
          </a:p>
          <a:p>
            <a:pPr lvl="1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SA (SLIIT)</a:t>
            </a:r>
          </a:p>
        </p:txBody>
      </p:sp>
    </p:spTree>
    <p:extLst>
      <p:ext uri="{BB962C8B-B14F-4D97-AF65-F5344CB8AC3E}">
        <p14:creationId xmlns:p14="http://schemas.microsoft.com/office/powerpoint/2010/main" val="27489057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13252"/>
            <a:ext cx="11521440" cy="824948"/>
          </a:xfrm>
        </p:spPr>
        <p:txBody>
          <a:bodyPr/>
          <a:lstStyle/>
          <a:p>
            <a:r>
              <a:rPr lang="en-US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OSGi</a:t>
            </a:r>
            <a:r>
              <a:rPr 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Bundle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>
              <a:effectLst/>
            </a:endParaRPr>
          </a:p>
          <a:p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" y="1066800"/>
            <a:ext cx="4815840" cy="3314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Content Placeholder 2"/>
          <p:cNvSpPr txBox="1">
            <a:spLocks/>
          </p:cNvSpPr>
          <p:nvPr/>
        </p:nvSpPr>
        <p:spPr>
          <a:xfrm>
            <a:off x="5257800" y="1066800"/>
            <a:ext cx="7162800" cy="5181600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following list contains a short definition of the terms: </a:t>
            </a:r>
          </a:p>
          <a:p>
            <a:pPr lvl="1"/>
            <a:r>
              <a:rPr 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Bundles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Bundles are the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OSGi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components made by the developers. </a:t>
            </a:r>
          </a:p>
          <a:p>
            <a:pPr lvl="1"/>
            <a:r>
              <a:rPr 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Services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services layer connects bundles in a dynamic way by offering a </a:t>
            </a:r>
            <a:r>
              <a:rPr lang="en-US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publish-find-bind model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US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plain old Java objects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1"/>
            <a:r>
              <a:rPr 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Life-Cycle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API to install, start, stop, update, and uninstall bundles. </a:t>
            </a:r>
          </a:p>
          <a:p>
            <a:pPr lvl="1"/>
            <a:r>
              <a:rPr 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layer that defines how a bundle can import and export code. </a:t>
            </a:r>
          </a:p>
          <a:p>
            <a:pPr lvl="1"/>
            <a:r>
              <a:rPr 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Security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layer that handles the security aspects. </a:t>
            </a:r>
          </a:p>
          <a:p>
            <a:pPr lvl="1"/>
            <a:r>
              <a:rPr 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Execution Environment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Defines what methods and classes are available in a specific platform. 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By Udara Samaratunge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25E54-448D-4B5B-9AD6-EE5883ED7EEA}" type="slidenum">
              <a:rPr lang="en-US" smtClean="0"/>
              <a:t>7</a:t>
            </a:fld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SA (SLIIT)</a:t>
            </a:r>
          </a:p>
        </p:txBody>
      </p:sp>
    </p:spTree>
    <p:extLst>
      <p:ext uri="{BB962C8B-B14F-4D97-AF65-F5344CB8AC3E}">
        <p14:creationId xmlns:p14="http://schemas.microsoft.com/office/powerpoint/2010/main" val="2295278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152400"/>
            <a:ext cx="11521440" cy="1143000"/>
          </a:xfrm>
        </p:spPr>
        <p:txBody>
          <a:bodyPr/>
          <a:lstStyle/>
          <a:p>
            <a:r>
              <a:rPr 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a Bundle?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13360" y="1295400"/>
            <a:ext cx="12161520" cy="4876800"/>
          </a:xfrm>
        </p:spPr>
        <p:txBody>
          <a:bodyPr>
            <a:normAutofit fontScale="92500" lnSpcReduction="2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Java terms, a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bundle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</a:t>
            </a:r>
            <a:r>
              <a:rPr lang="en-US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plain old JAR file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standard Java everything in a JAR is completely visible to all other JARs.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OSGi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hides everything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that JAR </a:t>
            </a:r>
            <a:r>
              <a:rPr lang="en-US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unless explicitly exported.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Reason for hiding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to </a:t>
            </a:r>
            <a:r>
              <a:rPr lang="en-US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maintain multiple versions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the same library.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 default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there is </a:t>
            </a:r>
            <a:r>
              <a:rPr lang="en-US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sharing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By Udara Samaratunge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25E54-448D-4B5B-9AD6-EE5883ED7EEA}" type="slidenum">
              <a:rPr lang="en-US" smtClean="0"/>
              <a:t>8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SA (SLIIT)</a:t>
            </a:r>
          </a:p>
        </p:txBody>
      </p:sp>
    </p:spTree>
    <p:extLst>
      <p:ext uri="{BB962C8B-B14F-4D97-AF65-F5344CB8AC3E}">
        <p14:creationId xmlns:p14="http://schemas.microsoft.com/office/powerpoint/2010/main" val="1752175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62604"/>
            <a:ext cx="11521440" cy="851796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Practical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3360" y="1066800"/>
            <a:ext cx="12161520" cy="525780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:- I have an application that is interacting with underlying MySQL database and after few month I found that MySQL team has fixed a major bug in their new version of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mysql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-connector library release so in order to incorporate this new library in my traditional application I have to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stop my application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re-package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(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just replace the older one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But, with </a:t>
            </a:r>
            <a:r>
              <a:rPr lang="en-US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OSGI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 </a:t>
            </a:r>
            <a:r>
              <a:rPr 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don’t need to stop the whole application</a:t>
            </a:r>
            <a:r>
              <a:rPr lang="en-US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because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everything is exposed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either as a component or as a service therefore we 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just need to install new component/service in OSGI container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the </a:t>
            </a:r>
            <a:r>
              <a:rPr lang="en-US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services/components are updated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OSGI container there are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various event listeners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</a:t>
            </a:r>
            <a:r>
              <a:rPr lang="en-US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propagate the service/component update event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service/component consumers.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accordingly consumers adapts themselves to use new version of web service (on the </a:t>
            </a:r>
            <a:r>
              <a:rPr lang="en-US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consumer side we need to listen for various events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 that consumers can decide whether to respond for change or not.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By Udara Samaratunge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25E54-448D-4B5B-9AD6-EE5883ED7EEA}" type="slidenum">
              <a:rPr lang="en-US" smtClean="0"/>
              <a:t>9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SA (SLIIT)</a:t>
            </a:r>
          </a:p>
        </p:txBody>
      </p:sp>
    </p:spTree>
    <p:extLst>
      <p:ext uri="{BB962C8B-B14F-4D97-AF65-F5344CB8AC3E}">
        <p14:creationId xmlns:p14="http://schemas.microsoft.com/office/powerpoint/2010/main" val="42817588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By Udara Samaratunge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25E54-448D-4B5B-9AD6-EE5883ED7EEA}" type="slidenum">
              <a:rPr lang="en-US" smtClean="0"/>
              <a:t>10</a:t>
            </a:fld>
            <a:endParaRPr 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381000"/>
            <a:ext cx="9804962" cy="563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SA (SLIIT)</a:t>
            </a:r>
          </a:p>
        </p:txBody>
      </p:sp>
    </p:spTree>
    <p:extLst>
      <p:ext uri="{BB962C8B-B14F-4D97-AF65-F5344CB8AC3E}">
        <p14:creationId xmlns:p14="http://schemas.microsoft.com/office/powerpoint/2010/main" val="41779075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5197884-6E18-4D0C-B710-8C97E3C13BFA}"/>
              </a:ext>
            </a:extLst>
          </p:cNvPr>
          <p:cNvSpPr/>
          <p:nvPr/>
        </p:nvSpPr>
        <p:spPr>
          <a:xfrm>
            <a:off x="352622" y="1191450"/>
            <a:ext cx="12096356" cy="5119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C7B447CF-7635-4BA7-9589-8269C149DA81}"/>
              </a:ext>
            </a:extLst>
          </p:cNvPr>
          <p:cNvSpPr/>
          <p:nvPr/>
        </p:nvSpPr>
        <p:spPr>
          <a:xfrm>
            <a:off x="4619622" y="3756011"/>
            <a:ext cx="1487423" cy="1171692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DC9521-FE8F-4C50-B73F-3A94E49387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MTIT (SLIIT)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E195CD-F7F8-4016-9AF2-7A56D4A90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By Udara Samaratunge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30E9AB-200B-4942-BB42-BB3492DB4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25E54-448D-4B5B-9AD6-EE5883ED7EEA}" type="slidenum">
              <a:rPr lang="en-US" smtClean="0"/>
              <a:t>11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C7BDB59-CB14-4CA3-9CD5-0C85AE4BDE47}"/>
              </a:ext>
            </a:extLst>
          </p:cNvPr>
          <p:cNvSpPr txBox="1"/>
          <p:nvPr/>
        </p:nvSpPr>
        <p:spPr>
          <a:xfrm>
            <a:off x="4800599" y="5931921"/>
            <a:ext cx="28651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OSGi Environment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D646A129-4941-49E7-82AD-9D32DD45D0D9}"/>
              </a:ext>
            </a:extLst>
          </p:cNvPr>
          <p:cNvGrpSpPr/>
          <p:nvPr/>
        </p:nvGrpSpPr>
        <p:grpSpPr>
          <a:xfrm>
            <a:off x="2615565" y="1442788"/>
            <a:ext cx="6819900" cy="1295400"/>
            <a:chOff x="1447800" y="2286000"/>
            <a:chExt cx="6819900" cy="1295400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2D6C0048-954C-4894-BEE4-61572FD1DC22}"/>
                </a:ext>
              </a:extLst>
            </p:cNvPr>
            <p:cNvSpPr/>
            <p:nvPr/>
          </p:nvSpPr>
          <p:spPr>
            <a:xfrm>
              <a:off x="1447800" y="2286000"/>
              <a:ext cx="1676400" cy="1295400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Dictionary Service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CD12F0C1-9B0D-42D2-9E12-43C0A04C4CDC}"/>
                </a:ext>
              </a:extLst>
            </p:cNvPr>
            <p:cNvSpPr/>
            <p:nvPr/>
          </p:nvSpPr>
          <p:spPr>
            <a:xfrm>
              <a:off x="6972300" y="2562225"/>
              <a:ext cx="1295400" cy="914400"/>
            </a:xfrm>
            <a:prstGeom prst="ellipse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Client Service</a:t>
              </a:r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E25E23D6-F57C-4210-81D4-8B5066F0F14C}"/>
                </a:ext>
              </a:extLst>
            </p:cNvPr>
            <p:cNvCxnSpPr>
              <a:cxnSpLocks/>
            </p:cNvCxnSpPr>
            <p:nvPr/>
          </p:nvCxnSpPr>
          <p:spPr>
            <a:xfrm>
              <a:off x="3124200" y="2971800"/>
              <a:ext cx="1219200" cy="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61398EE2-2FDB-419D-AA57-44552A62FED9}"/>
                </a:ext>
              </a:extLst>
            </p:cNvPr>
            <p:cNvSpPr/>
            <p:nvPr/>
          </p:nvSpPr>
          <p:spPr>
            <a:xfrm>
              <a:off x="4343400" y="2857500"/>
              <a:ext cx="228600" cy="190500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Block Arc 14">
              <a:extLst>
                <a:ext uri="{FF2B5EF4-FFF2-40B4-BE49-F238E27FC236}">
                  <a16:creationId xmlns:a16="http://schemas.microsoft.com/office/drawing/2014/main" id="{2D405DEB-44AA-4034-8BC0-A9B6D669B1FB}"/>
                </a:ext>
              </a:extLst>
            </p:cNvPr>
            <p:cNvSpPr/>
            <p:nvPr/>
          </p:nvSpPr>
          <p:spPr>
            <a:xfrm rot="5400000">
              <a:off x="4362451" y="2800352"/>
              <a:ext cx="381000" cy="304797"/>
            </a:xfrm>
            <a:prstGeom prst="blockArc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204AE4A-9291-4B4E-8C0B-1CD5FB560D63}"/>
                </a:ext>
              </a:extLst>
            </p:cNvPr>
            <p:cNvCxnSpPr>
              <a:cxnSpLocks/>
            </p:cNvCxnSpPr>
            <p:nvPr/>
          </p:nvCxnSpPr>
          <p:spPr>
            <a:xfrm>
              <a:off x="4705350" y="2943225"/>
              <a:ext cx="2266950" cy="28575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2778B690-4652-426A-BF7F-C505F3DD5A76}"/>
                </a:ext>
              </a:extLst>
            </p:cNvPr>
            <p:cNvSpPr txBox="1"/>
            <p:nvPr/>
          </p:nvSpPr>
          <p:spPr>
            <a:xfrm>
              <a:off x="3615690" y="2414072"/>
              <a:ext cx="28651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/>
                <a:t>IDictionaryService</a:t>
              </a:r>
              <a:endParaRPr lang="en-US" dirty="0"/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AE26AA6A-41C7-4264-B710-752DE820F3D1}"/>
              </a:ext>
            </a:extLst>
          </p:cNvPr>
          <p:cNvSpPr txBox="1"/>
          <p:nvPr/>
        </p:nvSpPr>
        <p:spPr>
          <a:xfrm>
            <a:off x="4647594" y="2296087"/>
            <a:ext cx="28651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Boolean </a:t>
            </a:r>
            <a:r>
              <a:rPr lang="en-US" dirty="0" err="1"/>
              <a:t>checkWord</a:t>
            </a:r>
            <a:r>
              <a:rPr lang="en-US" dirty="0"/>
              <a:t>(word)</a:t>
            </a: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5F3B50BC-55FF-4D6E-BB16-4770BDFFEC97}"/>
              </a:ext>
            </a:extLst>
          </p:cNvPr>
          <p:cNvGrpSpPr/>
          <p:nvPr/>
        </p:nvGrpSpPr>
        <p:grpSpPr>
          <a:xfrm>
            <a:off x="1676400" y="3293203"/>
            <a:ext cx="10369012" cy="2483753"/>
            <a:chOff x="796590" y="2335896"/>
            <a:chExt cx="10369012" cy="2483753"/>
          </a:xfrm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F4344FBB-C426-417D-AFD3-3CD3F7556B18}"/>
                </a:ext>
              </a:extLst>
            </p:cNvPr>
            <p:cNvSpPr/>
            <p:nvPr/>
          </p:nvSpPr>
          <p:spPr>
            <a:xfrm>
              <a:off x="796590" y="2719567"/>
              <a:ext cx="1676400" cy="1295400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Dictionary Service</a:t>
              </a: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1DAD7146-EDC5-4789-9845-E9F26D062A6B}"/>
                </a:ext>
              </a:extLst>
            </p:cNvPr>
            <p:cNvSpPr/>
            <p:nvPr/>
          </p:nvSpPr>
          <p:spPr>
            <a:xfrm>
              <a:off x="6229352" y="2416968"/>
              <a:ext cx="1295400" cy="484188"/>
            </a:xfrm>
            <a:prstGeom prst="ellipse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Client 1</a:t>
              </a: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B87CA8BA-5BBF-41A6-800C-70318563F9F5}"/>
                </a:ext>
              </a:extLst>
            </p:cNvPr>
            <p:cNvSpPr/>
            <p:nvPr/>
          </p:nvSpPr>
          <p:spPr>
            <a:xfrm>
              <a:off x="6446519" y="3833701"/>
              <a:ext cx="1295400" cy="484188"/>
            </a:xfrm>
            <a:prstGeom prst="ellipse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Client 3</a:t>
              </a: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080889F6-F13F-42DE-87C3-C395354ED50E}"/>
                </a:ext>
              </a:extLst>
            </p:cNvPr>
            <p:cNvSpPr/>
            <p:nvPr/>
          </p:nvSpPr>
          <p:spPr>
            <a:xfrm>
              <a:off x="8922486" y="3103292"/>
              <a:ext cx="1295400" cy="527950"/>
            </a:xfrm>
            <a:prstGeom prst="ellipse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Client 2</a:t>
              </a:r>
            </a:p>
          </p:txBody>
        </p:sp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0667C243-75A0-4653-8C61-886CD1224A2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5400000">
              <a:off x="4193094" y="2861023"/>
              <a:ext cx="484187" cy="1047054"/>
            </a:xfrm>
            <a:prstGeom prst="rect">
              <a:avLst/>
            </a:prstGeom>
          </p:spPr>
        </p:pic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B348A5A4-0669-4F94-805F-CEE8D53BB103}"/>
                </a:ext>
              </a:extLst>
            </p:cNvPr>
            <p:cNvCxnSpPr>
              <a:stCxn id="24" idx="6"/>
              <a:endCxn id="34" idx="2"/>
            </p:cNvCxnSpPr>
            <p:nvPr/>
          </p:nvCxnSpPr>
          <p:spPr>
            <a:xfrm>
              <a:off x="2472990" y="3367267"/>
              <a:ext cx="1438671" cy="17284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76277109-F882-4878-81B6-AC7F06D6AC87}"/>
                </a:ext>
              </a:extLst>
            </p:cNvPr>
            <p:cNvCxnSpPr>
              <a:cxnSpLocks/>
              <a:endCxn id="25" idx="3"/>
            </p:cNvCxnSpPr>
            <p:nvPr/>
          </p:nvCxnSpPr>
          <p:spPr>
            <a:xfrm flipV="1">
              <a:off x="4968239" y="2830248"/>
              <a:ext cx="1450820" cy="457058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911C31AE-C804-4C84-B4A2-08FA087BFF12}"/>
                </a:ext>
              </a:extLst>
            </p:cNvPr>
            <p:cNvCxnSpPr>
              <a:cxnSpLocks/>
              <a:stCxn id="34" idx="0"/>
              <a:endCxn id="32" idx="2"/>
            </p:cNvCxnSpPr>
            <p:nvPr/>
          </p:nvCxnSpPr>
          <p:spPr>
            <a:xfrm flipV="1">
              <a:off x="4958715" y="3367267"/>
              <a:ext cx="3963771" cy="17284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585F553B-43DD-4DCD-A5AE-40FC1AD02438}"/>
                </a:ext>
              </a:extLst>
            </p:cNvPr>
            <p:cNvCxnSpPr>
              <a:cxnSpLocks/>
              <a:endCxn id="31" idx="2"/>
            </p:cNvCxnSpPr>
            <p:nvPr/>
          </p:nvCxnSpPr>
          <p:spPr>
            <a:xfrm>
              <a:off x="4976417" y="3507969"/>
              <a:ext cx="1470102" cy="567826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195E91A6-4E94-4C31-8C3E-0FA4E0E1DADE}"/>
                </a:ext>
              </a:extLst>
            </p:cNvPr>
            <p:cNvSpPr txBox="1"/>
            <p:nvPr/>
          </p:nvSpPr>
          <p:spPr>
            <a:xfrm>
              <a:off x="1824988" y="4173318"/>
              <a:ext cx="150495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Publish the service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37C12DC7-11BE-462F-A3D6-B0819EA2E407}"/>
                </a:ext>
              </a:extLst>
            </p:cNvPr>
            <p:cNvSpPr txBox="1"/>
            <p:nvPr/>
          </p:nvSpPr>
          <p:spPr>
            <a:xfrm>
              <a:off x="7620000" y="2335896"/>
              <a:ext cx="150495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Service subscriber 1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2CDA3FFE-F5EA-4D1F-ACC1-4A8D2EA1583D}"/>
                </a:ext>
              </a:extLst>
            </p:cNvPr>
            <p:cNvSpPr txBox="1"/>
            <p:nvPr/>
          </p:nvSpPr>
          <p:spPr>
            <a:xfrm>
              <a:off x="9816860" y="2581849"/>
              <a:ext cx="134874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Service subscriber 2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A44B2D3E-3FDD-4A03-8169-D4D8C8A2A6E9}"/>
                </a:ext>
              </a:extLst>
            </p:cNvPr>
            <p:cNvSpPr txBox="1"/>
            <p:nvPr/>
          </p:nvSpPr>
          <p:spPr>
            <a:xfrm>
              <a:off x="7863279" y="3837666"/>
              <a:ext cx="134874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Service subscriber 3</a:t>
              </a:r>
            </a:p>
          </p:txBody>
        </p:sp>
      </p:grpSp>
      <p:sp>
        <p:nvSpPr>
          <p:cNvPr id="30" name="Title 1">
            <a:extLst>
              <a:ext uri="{FF2B5EF4-FFF2-40B4-BE49-F238E27FC236}">
                <a16:creationId xmlns:a16="http://schemas.microsoft.com/office/drawing/2014/main" id="{30EAE594-BB7F-47AA-8248-B6A9E6D3C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0" y="152400"/>
            <a:ext cx="8229600" cy="688992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Practical Example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D90DF68-5900-43B2-83BC-C8161AAEA365}"/>
              </a:ext>
            </a:extLst>
          </p:cNvPr>
          <p:cNvSpPr txBox="1"/>
          <p:nvPr/>
        </p:nvSpPr>
        <p:spPr>
          <a:xfrm>
            <a:off x="621030" y="4909142"/>
            <a:ext cx="18097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00FF"/>
                </a:solidFill>
              </a:rPr>
              <a:t>Bundle ID = 10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A1F558F-BE76-442D-90C0-9117F471C44A}"/>
              </a:ext>
            </a:extLst>
          </p:cNvPr>
          <p:cNvSpPr txBox="1"/>
          <p:nvPr/>
        </p:nvSpPr>
        <p:spPr>
          <a:xfrm>
            <a:off x="6923812" y="2982969"/>
            <a:ext cx="18097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00FF"/>
                </a:solidFill>
              </a:rPr>
              <a:t>Bundle ID = 11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0897A0C-4D10-426B-A7C0-B2CEC5BB2F6C}"/>
              </a:ext>
            </a:extLst>
          </p:cNvPr>
          <p:cNvSpPr txBox="1"/>
          <p:nvPr/>
        </p:nvSpPr>
        <p:spPr>
          <a:xfrm>
            <a:off x="10331855" y="4583951"/>
            <a:ext cx="18097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00FF"/>
                </a:solidFill>
              </a:rPr>
              <a:t>Bundle ID = 12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7D8DF66-7749-4A6D-8D72-A40CCC9043FA}"/>
              </a:ext>
            </a:extLst>
          </p:cNvPr>
          <p:cNvSpPr txBox="1"/>
          <p:nvPr/>
        </p:nvSpPr>
        <p:spPr>
          <a:xfrm>
            <a:off x="7235189" y="5407624"/>
            <a:ext cx="18097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00FF"/>
                </a:solidFill>
              </a:rPr>
              <a:t>Bundle ID = 13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F759830-572C-4A6B-ACE8-9B1AF086A337}"/>
              </a:ext>
            </a:extLst>
          </p:cNvPr>
          <p:cNvSpPr txBox="1"/>
          <p:nvPr/>
        </p:nvSpPr>
        <p:spPr>
          <a:xfrm>
            <a:off x="4671487" y="5044407"/>
            <a:ext cx="18097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00FF"/>
                </a:solidFill>
              </a:rPr>
              <a:t>Bundle ID = 14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04CC56F-EBA8-4A9C-B980-8A8CD3B2E88A}"/>
              </a:ext>
            </a:extLst>
          </p:cNvPr>
          <p:cNvSpPr txBox="1"/>
          <p:nvPr/>
        </p:nvSpPr>
        <p:spPr>
          <a:xfrm>
            <a:off x="4663441" y="3235805"/>
            <a:ext cx="18097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OSGi Framework bundle</a:t>
            </a:r>
          </a:p>
        </p:txBody>
      </p:sp>
    </p:spTree>
    <p:extLst>
      <p:ext uri="{BB962C8B-B14F-4D97-AF65-F5344CB8AC3E}">
        <p14:creationId xmlns:p14="http://schemas.microsoft.com/office/powerpoint/2010/main" val="27340147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  <p:bldP spid="35" grpId="0"/>
      <p:bldP spid="36" grpId="0"/>
      <p:bldP spid="38" grpId="0"/>
      <p:bldP spid="40" grpId="0"/>
      <p:bldP spid="45" grpId="0"/>
      <p:bldP spid="5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5197884-6E18-4D0C-B710-8C97E3C13BFA}"/>
              </a:ext>
            </a:extLst>
          </p:cNvPr>
          <p:cNvSpPr/>
          <p:nvPr/>
        </p:nvSpPr>
        <p:spPr>
          <a:xfrm>
            <a:off x="126352" y="731617"/>
            <a:ext cx="12496800" cy="600220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D71D1035-C928-4BB3-94F6-C8235B835983}"/>
              </a:ext>
            </a:extLst>
          </p:cNvPr>
          <p:cNvSpPr/>
          <p:nvPr/>
        </p:nvSpPr>
        <p:spPr>
          <a:xfrm>
            <a:off x="5363486" y="4078157"/>
            <a:ext cx="1487423" cy="1171692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8297374-34FD-4292-BD0A-4E5AE8FAD31F}"/>
              </a:ext>
            </a:extLst>
          </p:cNvPr>
          <p:cNvSpPr txBox="1"/>
          <p:nvPr/>
        </p:nvSpPr>
        <p:spPr>
          <a:xfrm>
            <a:off x="5407305" y="3557951"/>
            <a:ext cx="18097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OSGi Framework bundle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DC9521-FE8F-4C50-B73F-3A94E49387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MTIT (SLIIT)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E195CD-F7F8-4016-9AF2-7A56D4A90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By Udara Samaratunge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30E9AB-200B-4942-BB42-BB3492DB4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25E54-448D-4B5B-9AD6-EE5883ED7EEA}" type="slidenum">
              <a:rPr lang="en-US" smtClean="0"/>
              <a:t>12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C7BDB59-CB14-4CA3-9CD5-0C85AE4BDE47}"/>
              </a:ext>
            </a:extLst>
          </p:cNvPr>
          <p:cNvSpPr txBox="1"/>
          <p:nvPr/>
        </p:nvSpPr>
        <p:spPr>
          <a:xfrm>
            <a:off x="5500366" y="6334328"/>
            <a:ext cx="28651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OSGi Environment</a:t>
            </a: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40F3DB92-26B2-45E0-BC9B-43F986A107CA}"/>
              </a:ext>
            </a:extLst>
          </p:cNvPr>
          <p:cNvGrpSpPr/>
          <p:nvPr/>
        </p:nvGrpSpPr>
        <p:grpSpPr>
          <a:xfrm>
            <a:off x="372819" y="1182299"/>
            <a:ext cx="5633088" cy="1295400"/>
            <a:chOff x="372819" y="1182299"/>
            <a:chExt cx="5633088" cy="1295400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D646A129-4941-49E7-82AD-9D32DD45D0D9}"/>
                </a:ext>
              </a:extLst>
            </p:cNvPr>
            <p:cNvGrpSpPr/>
            <p:nvPr/>
          </p:nvGrpSpPr>
          <p:grpSpPr>
            <a:xfrm>
              <a:off x="372819" y="1182299"/>
              <a:ext cx="5633088" cy="1295400"/>
              <a:chOff x="1447800" y="2286000"/>
              <a:chExt cx="5633088" cy="1295400"/>
            </a:xfrm>
          </p:grpSpPr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2D6C0048-954C-4894-BEE4-61572FD1DC22}"/>
                  </a:ext>
                </a:extLst>
              </p:cNvPr>
              <p:cNvSpPr/>
              <p:nvPr/>
            </p:nvSpPr>
            <p:spPr>
              <a:xfrm>
                <a:off x="1447800" y="2286000"/>
                <a:ext cx="1676400" cy="1295400"/>
              </a:xfrm>
              <a:prstGeom prst="ellipse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Dictionary Service</a:t>
                </a:r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CD12F0C1-9B0D-42D2-9E12-43C0A04C4CDC}"/>
                  </a:ext>
                </a:extLst>
              </p:cNvPr>
              <p:cNvSpPr/>
              <p:nvPr/>
            </p:nvSpPr>
            <p:spPr>
              <a:xfrm>
                <a:off x="5785488" y="2417738"/>
                <a:ext cx="1295400" cy="914400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Client Service</a:t>
                </a:r>
              </a:p>
            </p:txBody>
          </p: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E25E23D6-F57C-4210-81D4-8B5066F0F14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24200" y="2962609"/>
                <a:ext cx="1219200" cy="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61398EE2-2FDB-419D-AA57-44552A62FED9}"/>
                  </a:ext>
                </a:extLst>
              </p:cNvPr>
              <p:cNvSpPr/>
              <p:nvPr/>
            </p:nvSpPr>
            <p:spPr>
              <a:xfrm>
                <a:off x="4343400" y="2828591"/>
                <a:ext cx="222888" cy="219409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5" name="Block Arc 14">
                <a:extLst>
                  <a:ext uri="{FF2B5EF4-FFF2-40B4-BE49-F238E27FC236}">
                    <a16:creationId xmlns:a16="http://schemas.microsoft.com/office/drawing/2014/main" id="{2D405DEB-44AA-4034-8BC0-A9B6D669B1FB}"/>
                  </a:ext>
                </a:extLst>
              </p:cNvPr>
              <p:cNvSpPr/>
              <p:nvPr/>
            </p:nvSpPr>
            <p:spPr>
              <a:xfrm rot="5400000">
                <a:off x="4362451" y="2800352"/>
                <a:ext cx="381000" cy="304797"/>
              </a:xfrm>
              <a:prstGeom prst="blockArc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2204AE4A-9291-4B4E-8C0B-1CD5FB560D6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705350" y="2933700"/>
                <a:ext cx="1080138" cy="9525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778B690-4652-426A-BF7F-C505F3DD5A76}"/>
                  </a:ext>
                </a:extLst>
              </p:cNvPr>
              <p:cNvSpPr txBox="1"/>
              <p:nvPr/>
            </p:nvSpPr>
            <p:spPr>
              <a:xfrm>
                <a:off x="3615690" y="2414072"/>
                <a:ext cx="286511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err="1"/>
                  <a:t>IDictionaryService</a:t>
                </a:r>
                <a:endParaRPr lang="en-US" dirty="0"/>
              </a:p>
            </p:txBody>
          </p: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E26AA6A-41C7-4264-B710-752DE820F3D1}"/>
                </a:ext>
              </a:extLst>
            </p:cNvPr>
            <p:cNvSpPr txBox="1"/>
            <p:nvPr/>
          </p:nvSpPr>
          <p:spPr>
            <a:xfrm>
              <a:off x="2202574" y="2106805"/>
              <a:ext cx="28651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Boolean </a:t>
              </a:r>
              <a:r>
                <a:rPr lang="en-US" dirty="0" err="1"/>
                <a:t>checkWord</a:t>
              </a:r>
              <a:r>
                <a:rPr lang="en-US" dirty="0"/>
                <a:t>(word)</a:t>
              </a: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5F3B50BC-55FF-4D6E-BB16-4770BDFFEC97}"/>
              </a:ext>
            </a:extLst>
          </p:cNvPr>
          <p:cNvGrpSpPr/>
          <p:nvPr/>
        </p:nvGrpSpPr>
        <p:grpSpPr>
          <a:xfrm>
            <a:off x="1702963" y="3555668"/>
            <a:ext cx="10917660" cy="2836068"/>
            <a:chOff x="75079" y="2335896"/>
            <a:chExt cx="10917660" cy="2836068"/>
          </a:xfrm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F4344FBB-C426-417D-AFD3-3CD3F7556B18}"/>
                </a:ext>
              </a:extLst>
            </p:cNvPr>
            <p:cNvSpPr/>
            <p:nvPr/>
          </p:nvSpPr>
          <p:spPr>
            <a:xfrm>
              <a:off x="75079" y="3457185"/>
              <a:ext cx="1676400" cy="12954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Dictionary Service</a:t>
              </a: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1DAD7146-EDC5-4789-9845-E9F26D062A6B}"/>
                </a:ext>
              </a:extLst>
            </p:cNvPr>
            <p:cNvSpPr/>
            <p:nvPr/>
          </p:nvSpPr>
          <p:spPr>
            <a:xfrm>
              <a:off x="6229352" y="2416968"/>
              <a:ext cx="1295400" cy="484188"/>
            </a:xfrm>
            <a:prstGeom prst="ellipse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Client 1</a:t>
              </a: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B87CA8BA-5BBF-41A6-800C-70318563F9F5}"/>
                </a:ext>
              </a:extLst>
            </p:cNvPr>
            <p:cNvSpPr/>
            <p:nvPr/>
          </p:nvSpPr>
          <p:spPr>
            <a:xfrm>
              <a:off x="6474307" y="3772055"/>
              <a:ext cx="1295400" cy="484188"/>
            </a:xfrm>
            <a:prstGeom prst="ellipse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Client 3</a:t>
              </a: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080889F6-F13F-42DE-87C3-C395354ED50E}"/>
                </a:ext>
              </a:extLst>
            </p:cNvPr>
            <p:cNvSpPr/>
            <p:nvPr/>
          </p:nvSpPr>
          <p:spPr>
            <a:xfrm>
              <a:off x="8212735" y="3142457"/>
              <a:ext cx="1295400" cy="484188"/>
            </a:xfrm>
            <a:prstGeom prst="ellipse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Client 2</a:t>
              </a:r>
            </a:p>
          </p:txBody>
        </p:sp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0667C243-75A0-4653-8C61-886CD1224A2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5400000">
              <a:off x="4193094" y="2861024"/>
              <a:ext cx="484187" cy="1047054"/>
            </a:xfrm>
            <a:prstGeom prst="rect">
              <a:avLst/>
            </a:prstGeom>
          </p:spPr>
        </p:pic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B348A5A4-0669-4F94-805F-CEE8D53BB103}"/>
                </a:ext>
              </a:extLst>
            </p:cNvPr>
            <p:cNvCxnSpPr>
              <a:cxnSpLocks/>
              <a:stCxn id="24" idx="6"/>
            </p:cNvCxnSpPr>
            <p:nvPr/>
          </p:nvCxnSpPr>
          <p:spPr>
            <a:xfrm flipV="1">
              <a:off x="1751479" y="3548857"/>
              <a:ext cx="2160181" cy="556028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76277109-F882-4878-81B6-AC7F06D6AC87}"/>
                </a:ext>
              </a:extLst>
            </p:cNvPr>
            <p:cNvCxnSpPr>
              <a:cxnSpLocks/>
              <a:endCxn id="25" idx="3"/>
            </p:cNvCxnSpPr>
            <p:nvPr/>
          </p:nvCxnSpPr>
          <p:spPr>
            <a:xfrm flipV="1">
              <a:off x="4968239" y="2830248"/>
              <a:ext cx="1450820" cy="457058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911C31AE-C804-4C84-B4A2-08FA087BFF12}"/>
                </a:ext>
              </a:extLst>
            </p:cNvPr>
            <p:cNvCxnSpPr>
              <a:cxnSpLocks/>
              <a:stCxn id="34" idx="0"/>
              <a:endCxn id="32" idx="2"/>
            </p:cNvCxnSpPr>
            <p:nvPr/>
          </p:nvCxnSpPr>
          <p:spPr>
            <a:xfrm flipV="1">
              <a:off x="4958715" y="3384551"/>
              <a:ext cx="3254020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585F553B-43DD-4DCD-A5AE-40FC1AD02438}"/>
                </a:ext>
              </a:extLst>
            </p:cNvPr>
            <p:cNvCxnSpPr>
              <a:cxnSpLocks/>
              <a:endCxn id="31" idx="2"/>
            </p:cNvCxnSpPr>
            <p:nvPr/>
          </p:nvCxnSpPr>
          <p:spPr>
            <a:xfrm>
              <a:off x="4976417" y="3507969"/>
              <a:ext cx="1497890" cy="50618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195E91A6-4E94-4C31-8C3E-0FA4E0E1DADE}"/>
                </a:ext>
              </a:extLst>
            </p:cNvPr>
            <p:cNvSpPr txBox="1"/>
            <p:nvPr/>
          </p:nvSpPr>
          <p:spPr>
            <a:xfrm>
              <a:off x="75079" y="4802632"/>
              <a:ext cx="199005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000FF"/>
                  </a:solidFill>
                </a:rPr>
                <a:t>Modified service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37C12DC7-11BE-462F-A3D6-B0819EA2E407}"/>
                </a:ext>
              </a:extLst>
            </p:cNvPr>
            <p:cNvSpPr txBox="1"/>
            <p:nvPr/>
          </p:nvSpPr>
          <p:spPr>
            <a:xfrm>
              <a:off x="7620000" y="2335896"/>
              <a:ext cx="150495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Service subscriber 1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2CDA3FFE-F5EA-4D1F-ACC1-4A8D2EA1583D}"/>
                </a:ext>
              </a:extLst>
            </p:cNvPr>
            <p:cNvSpPr txBox="1"/>
            <p:nvPr/>
          </p:nvSpPr>
          <p:spPr>
            <a:xfrm>
              <a:off x="9643997" y="3070809"/>
              <a:ext cx="134874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Service subscriber 2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A44B2D3E-3FDD-4A03-8169-D4D8C8A2A6E9}"/>
                </a:ext>
              </a:extLst>
            </p:cNvPr>
            <p:cNvSpPr txBox="1"/>
            <p:nvPr/>
          </p:nvSpPr>
          <p:spPr>
            <a:xfrm>
              <a:off x="7830918" y="3799454"/>
              <a:ext cx="134874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Service subscriber 3</a:t>
              </a:r>
            </a:p>
          </p:txBody>
        </p:sp>
      </p:grpSp>
      <p:sp>
        <p:nvSpPr>
          <p:cNvPr id="30" name="Title 1">
            <a:extLst>
              <a:ext uri="{FF2B5EF4-FFF2-40B4-BE49-F238E27FC236}">
                <a16:creationId xmlns:a16="http://schemas.microsoft.com/office/drawing/2014/main" id="{30EAE594-BB7F-47AA-8248-B6A9E6D3C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0" y="152400"/>
            <a:ext cx="8229600" cy="688992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Practical Example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51F66ECD-1051-4F3B-B3B4-8CE4AFC1B3BE}"/>
              </a:ext>
            </a:extLst>
          </p:cNvPr>
          <p:cNvGrpSpPr/>
          <p:nvPr/>
        </p:nvGrpSpPr>
        <p:grpSpPr>
          <a:xfrm>
            <a:off x="6653605" y="1248964"/>
            <a:ext cx="2615941" cy="1295400"/>
            <a:chOff x="891537" y="2893267"/>
            <a:chExt cx="2634067" cy="1295400"/>
          </a:xfrm>
        </p:grpSpPr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C8CACB89-0AA7-485B-BFB8-2CA428124205}"/>
                </a:ext>
              </a:extLst>
            </p:cNvPr>
            <p:cNvSpPr/>
            <p:nvPr/>
          </p:nvSpPr>
          <p:spPr>
            <a:xfrm>
              <a:off x="891537" y="2893267"/>
              <a:ext cx="1676400" cy="12954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Dictionary Service</a:t>
              </a:r>
            </a:p>
          </p:txBody>
        </p: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EF887201-4895-4A54-AB33-5C27938FE9C4}"/>
                </a:ext>
              </a:extLst>
            </p:cNvPr>
            <p:cNvCxnSpPr>
              <a:cxnSpLocks/>
            </p:cNvCxnSpPr>
            <p:nvPr/>
          </p:nvCxnSpPr>
          <p:spPr>
            <a:xfrm>
              <a:off x="2567937" y="3472191"/>
              <a:ext cx="725189" cy="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99D4C2E2-D0E1-4400-99D8-53E9FCF6E1FE}"/>
                </a:ext>
              </a:extLst>
            </p:cNvPr>
            <p:cNvSpPr/>
            <p:nvPr/>
          </p:nvSpPr>
          <p:spPr>
            <a:xfrm>
              <a:off x="3302716" y="3340995"/>
              <a:ext cx="222888" cy="22684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75238FAB-8F81-4986-BCDF-B64EFA0B4A02}"/>
              </a:ext>
            </a:extLst>
          </p:cNvPr>
          <p:cNvSpPr txBox="1"/>
          <p:nvPr/>
        </p:nvSpPr>
        <p:spPr>
          <a:xfrm>
            <a:off x="8471821" y="1241997"/>
            <a:ext cx="28651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IDictionaryService</a:t>
            </a:r>
            <a:endParaRPr lang="en-US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A4417A1-0BAA-45CE-BFC6-BEF4E3B3E001}"/>
              </a:ext>
            </a:extLst>
          </p:cNvPr>
          <p:cNvSpPr txBox="1"/>
          <p:nvPr/>
        </p:nvSpPr>
        <p:spPr>
          <a:xfrm>
            <a:off x="8284145" y="1963399"/>
            <a:ext cx="4422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Boolean </a:t>
            </a:r>
            <a:r>
              <a:rPr lang="en-US" dirty="0" err="1"/>
              <a:t>checkWord</a:t>
            </a:r>
            <a:r>
              <a:rPr lang="en-US" dirty="0"/>
              <a:t>(</a:t>
            </a:r>
            <a:r>
              <a:rPr lang="en-US" dirty="0" err="1"/>
              <a:t>ArrayList</a:t>
            </a:r>
            <a:r>
              <a:rPr lang="en-US" dirty="0"/>
              <a:t>&lt;String&gt; words)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EDF082B0-C3BB-489E-99DE-DD50F63C53AD}"/>
              </a:ext>
            </a:extLst>
          </p:cNvPr>
          <p:cNvSpPr/>
          <p:nvPr/>
        </p:nvSpPr>
        <p:spPr>
          <a:xfrm>
            <a:off x="1679788" y="3146844"/>
            <a:ext cx="1676400" cy="12954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Dictionary Service</a:t>
            </a: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A96C2D24-8A93-4788-A614-E0BEC2E34E54}"/>
              </a:ext>
            </a:extLst>
          </p:cNvPr>
          <p:cNvCxnSpPr>
            <a:cxnSpLocks/>
            <a:endCxn id="34" idx="2"/>
          </p:cNvCxnSpPr>
          <p:nvPr/>
        </p:nvCxnSpPr>
        <p:spPr>
          <a:xfrm>
            <a:off x="3371957" y="3732719"/>
            <a:ext cx="2167588" cy="87160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6C762FBC-B32D-4AFE-B7B9-67E7653880AC}"/>
              </a:ext>
            </a:extLst>
          </p:cNvPr>
          <p:cNvSpPr txBox="1"/>
          <p:nvPr/>
        </p:nvSpPr>
        <p:spPr>
          <a:xfrm>
            <a:off x="1828800" y="2768218"/>
            <a:ext cx="19900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Old service</a:t>
            </a:r>
          </a:p>
        </p:txBody>
      </p:sp>
      <p:sp>
        <p:nvSpPr>
          <p:cNvPr id="57" name="Multiplication Sign 56">
            <a:extLst>
              <a:ext uri="{FF2B5EF4-FFF2-40B4-BE49-F238E27FC236}">
                <a16:creationId xmlns:a16="http://schemas.microsoft.com/office/drawing/2014/main" id="{43ABEEB4-9AD6-4814-BF5C-1B6DA26BD941}"/>
              </a:ext>
            </a:extLst>
          </p:cNvPr>
          <p:cNvSpPr/>
          <p:nvPr/>
        </p:nvSpPr>
        <p:spPr>
          <a:xfrm>
            <a:off x="1252353" y="2899571"/>
            <a:ext cx="2447979" cy="1824010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326DAFD1-05F0-4036-9606-B3BDD4842ABB}"/>
              </a:ext>
            </a:extLst>
          </p:cNvPr>
          <p:cNvGrpSpPr/>
          <p:nvPr/>
        </p:nvGrpSpPr>
        <p:grpSpPr>
          <a:xfrm rot="1546246">
            <a:off x="1062368" y="4770030"/>
            <a:ext cx="752569" cy="1340084"/>
            <a:chOff x="866510" y="4456799"/>
            <a:chExt cx="752569" cy="1340084"/>
          </a:xfrm>
          <a:solidFill>
            <a:srgbClr val="00B050"/>
          </a:solidFill>
        </p:grpSpPr>
        <p:sp>
          <p:nvSpPr>
            <p:cNvPr id="58" name="Minus Sign 57">
              <a:extLst>
                <a:ext uri="{FF2B5EF4-FFF2-40B4-BE49-F238E27FC236}">
                  <a16:creationId xmlns:a16="http://schemas.microsoft.com/office/drawing/2014/main" id="{E6A792E5-EC0A-4A6B-B1DA-B6FBE8A75C5E}"/>
                </a:ext>
              </a:extLst>
            </p:cNvPr>
            <p:cNvSpPr/>
            <p:nvPr/>
          </p:nvSpPr>
          <p:spPr>
            <a:xfrm rot="995759">
              <a:off x="866510" y="5493058"/>
              <a:ext cx="619994" cy="125643"/>
            </a:xfrm>
            <a:prstGeom prst="mathMinus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9" name="Minus Sign 58">
              <a:extLst>
                <a:ext uri="{FF2B5EF4-FFF2-40B4-BE49-F238E27FC236}">
                  <a16:creationId xmlns:a16="http://schemas.microsoft.com/office/drawing/2014/main" id="{DA94AB7A-839B-41CF-A47D-67A6CCF3CF50}"/>
                </a:ext>
              </a:extLst>
            </p:cNvPr>
            <p:cNvSpPr/>
            <p:nvPr/>
          </p:nvSpPr>
          <p:spPr>
            <a:xfrm rot="17039341">
              <a:off x="806627" y="4984430"/>
              <a:ext cx="1340084" cy="284821"/>
            </a:xfrm>
            <a:prstGeom prst="mathMinus">
              <a:avLst/>
            </a:prstGeom>
            <a:grpFill/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1721391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 animBg="1"/>
      <p:bldP spid="55" grpId="0"/>
      <p:bldP spid="43" grpId="0"/>
      <p:bldP spid="45" grpId="0"/>
      <p:bldP spid="51" grpId="0" animBg="1"/>
      <p:bldP spid="56" grpId="0"/>
      <p:bldP spid="5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DC9521-FE8F-4C50-B73F-3A94E49387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MTIT (SLIIT)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E195CD-F7F8-4016-9AF2-7A56D4A90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By Udara Samaratunge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30E9AB-200B-4942-BB42-BB3492DB4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25E54-448D-4B5B-9AD6-EE5883ED7EEA}" type="slidenum">
              <a:rPr lang="en-US" smtClean="0"/>
              <a:t>13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5197884-6E18-4D0C-B710-8C97E3C13BFA}"/>
              </a:ext>
            </a:extLst>
          </p:cNvPr>
          <p:cNvSpPr/>
          <p:nvPr/>
        </p:nvSpPr>
        <p:spPr>
          <a:xfrm>
            <a:off x="251461" y="442760"/>
            <a:ext cx="12439648" cy="59086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C7BDB59-CB14-4CA3-9CD5-0C85AE4BDE47}"/>
              </a:ext>
            </a:extLst>
          </p:cNvPr>
          <p:cNvSpPr txBox="1"/>
          <p:nvPr/>
        </p:nvSpPr>
        <p:spPr>
          <a:xfrm>
            <a:off x="5410201" y="78324"/>
            <a:ext cx="28651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OSGi Environment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C52209D-258A-4A2D-947A-C50F841AFCCB}"/>
              </a:ext>
            </a:extLst>
          </p:cNvPr>
          <p:cNvGrpSpPr/>
          <p:nvPr/>
        </p:nvGrpSpPr>
        <p:grpSpPr>
          <a:xfrm>
            <a:off x="3044191" y="593092"/>
            <a:ext cx="6819900" cy="1295400"/>
            <a:chOff x="1177290" y="804346"/>
            <a:chExt cx="6819900" cy="1295400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D646A129-4941-49E7-82AD-9D32DD45D0D9}"/>
                </a:ext>
              </a:extLst>
            </p:cNvPr>
            <p:cNvGrpSpPr/>
            <p:nvPr/>
          </p:nvGrpSpPr>
          <p:grpSpPr>
            <a:xfrm>
              <a:off x="1177290" y="804346"/>
              <a:ext cx="6819900" cy="1295400"/>
              <a:chOff x="1447800" y="2286000"/>
              <a:chExt cx="6819900" cy="1295400"/>
            </a:xfrm>
          </p:grpSpPr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2D6C0048-954C-4894-BEE4-61572FD1DC22}"/>
                  </a:ext>
                </a:extLst>
              </p:cNvPr>
              <p:cNvSpPr/>
              <p:nvPr/>
            </p:nvSpPr>
            <p:spPr>
              <a:xfrm>
                <a:off x="1447800" y="2286000"/>
                <a:ext cx="1676400" cy="1295400"/>
              </a:xfrm>
              <a:prstGeom prst="ellipse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Dictionary Service</a:t>
                </a:r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CD12F0C1-9B0D-42D2-9E12-43C0A04C4CDC}"/>
                  </a:ext>
                </a:extLst>
              </p:cNvPr>
              <p:cNvSpPr/>
              <p:nvPr/>
            </p:nvSpPr>
            <p:spPr>
              <a:xfrm>
                <a:off x="6972300" y="2562225"/>
                <a:ext cx="1295400" cy="914400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Client Service</a:t>
                </a:r>
              </a:p>
            </p:txBody>
          </p: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E25E23D6-F57C-4210-81D4-8B5066F0F14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24200" y="2971800"/>
                <a:ext cx="1219200" cy="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61398EE2-2FDB-419D-AA57-44552A62FED9}"/>
                  </a:ext>
                </a:extLst>
              </p:cNvPr>
              <p:cNvSpPr/>
              <p:nvPr/>
            </p:nvSpPr>
            <p:spPr>
              <a:xfrm>
                <a:off x="4343400" y="2857500"/>
                <a:ext cx="228600" cy="190500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Block Arc 14">
                <a:extLst>
                  <a:ext uri="{FF2B5EF4-FFF2-40B4-BE49-F238E27FC236}">
                    <a16:creationId xmlns:a16="http://schemas.microsoft.com/office/drawing/2014/main" id="{2D405DEB-44AA-4034-8BC0-A9B6D669B1FB}"/>
                  </a:ext>
                </a:extLst>
              </p:cNvPr>
              <p:cNvSpPr/>
              <p:nvPr/>
            </p:nvSpPr>
            <p:spPr>
              <a:xfrm rot="5400000">
                <a:off x="4362451" y="2800352"/>
                <a:ext cx="381000" cy="304797"/>
              </a:xfrm>
              <a:prstGeom prst="blockArc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2204AE4A-9291-4B4E-8C0B-1CD5FB560D6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05350" y="2943225"/>
                <a:ext cx="2266950" cy="28575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778B690-4652-426A-BF7F-C505F3DD5A76}"/>
                  </a:ext>
                </a:extLst>
              </p:cNvPr>
              <p:cNvSpPr txBox="1"/>
              <p:nvPr/>
            </p:nvSpPr>
            <p:spPr>
              <a:xfrm>
                <a:off x="3615690" y="2414072"/>
                <a:ext cx="286511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err="1"/>
                  <a:t>IDictionaryService</a:t>
                </a:r>
                <a:endParaRPr lang="en-US" dirty="0"/>
              </a:p>
            </p:txBody>
          </p: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E26AA6A-41C7-4264-B710-752DE820F3D1}"/>
                </a:ext>
              </a:extLst>
            </p:cNvPr>
            <p:cNvSpPr txBox="1"/>
            <p:nvPr/>
          </p:nvSpPr>
          <p:spPr>
            <a:xfrm>
              <a:off x="3154681" y="1581169"/>
              <a:ext cx="28651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Boolean </a:t>
              </a:r>
              <a:r>
                <a:rPr lang="en-US" dirty="0" err="1"/>
                <a:t>checkWord</a:t>
              </a:r>
              <a:r>
                <a:rPr lang="en-US" dirty="0"/>
                <a:t>(word)</a:t>
              </a:r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F72DC5EE-E4E1-46FC-9252-8F899D2CB469}"/>
              </a:ext>
            </a:extLst>
          </p:cNvPr>
          <p:cNvSpPr txBox="1"/>
          <p:nvPr/>
        </p:nvSpPr>
        <p:spPr>
          <a:xfrm>
            <a:off x="861063" y="909560"/>
            <a:ext cx="28651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Manifest file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6AF2885-9D82-466F-AD9E-3D914A5FA677}"/>
              </a:ext>
            </a:extLst>
          </p:cNvPr>
          <p:cNvSpPr txBox="1"/>
          <p:nvPr/>
        </p:nvSpPr>
        <p:spPr>
          <a:xfrm>
            <a:off x="861063" y="1278892"/>
            <a:ext cx="28651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Service Activator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535A06F-0BE1-41A1-B446-E96022D72C56}"/>
              </a:ext>
            </a:extLst>
          </p:cNvPr>
          <p:cNvSpPr txBox="1"/>
          <p:nvPr/>
        </p:nvSpPr>
        <p:spPr>
          <a:xfrm>
            <a:off x="838203" y="1697772"/>
            <a:ext cx="28651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IDictionarySevice</a:t>
            </a:r>
            <a:endParaRPr lang="en-US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4B6A722-5823-4EDD-BC9C-3318CFB63571}"/>
              </a:ext>
            </a:extLst>
          </p:cNvPr>
          <p:cNvSpPr txBox="1"/>
          <p:nvPr/>
        </p:nvSpPr>
        <p:spPr>
          <a:xfrm>
            <a:off x="880113" y="2106353"/>
            <a:ext cx="28651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DictionarySeviceImpl</a:t>
            </a:r>
            <a:endParaRPr lang="en-US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491B9E2-5603-4B64-BA13-995D855BDA32}"/>
              </a:ext>
            </a:extLst>
          </p:cNvPr>
          <p:cNvSpPr txBox="1"/>
          <p:nvPr/>
        </p:nvSpPr>
        <p:spPr>
          <a:xfrm>
            <a:off x="10424159" y="1007352"/>
            <a:ext cx="22669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Manifest file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34F9950-7233-4A99-A12A-DF367625D45C}"/>
              </a:ext>
            </a:extLst>
          </p:cNvPr>
          <p:cNvSpPr txBox="1"/>
          <p:nvPr/>
        </p:nvSpPr>
        <p:spPr>
          <a:xfrm>
            <a:off x="10424158" y="1378827"/>
            <a:ext cx="22669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Service Activator 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E0D20E45-3A4E-4870-88E4-B2A027924370}"/>
              </a:ext>
            </a:extLst>
          </p:cNvPr>
          <p:cNvGrpSpPr/>
          <p:nvPr/>
        </p:nvGrpSpPr>
        <p:grpSpPr>
          <a:xfrm>
            <a:off x="545782" y="2359566"/>
            <a:ext cx="6841907" cy="1841314"/>
            <a:chOff x="545782" y="2359566"/>
            <a:chExt cx="6841907" cy="1841314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28989700-C81B-46E8-9581-E284705A94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45782" y="2670457"/>
              <a:ext cx="6554204" cy="1530423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16CBB3BB-BE3A-4C2F-BDC1-BD06A93DA216}"/>
                </a:ext>
              </a:extLst>
            </p:cNvPr>
            <p:cNvSpPr txBox="1"/>
            <p:nvPr/>
          </p:nvSpPr>
          <p:spPr>
            <a:xfrm>
              <a:off x="4006314" y="2359566"/>
              <a:ext cx="33813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000FF"/>
                  </a:solidFill>
                </a:rPr>
                <a:t>Dictionary Service Manifest file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7498090-6363-40A7-AA9A-1AE67AEDB20F}"/>
              </a:ext>
            </a:extLst>
          </p:cNvPr>
          <p:cNvGrpSpPr/>
          <p:nvPr/>
        </p:nvGrpSpPr>
        <p:grpSpPr>
          <a:xfrm>
            <a:off x="4179568" y="4142439"/>
            <a:ext cx="8246746" cy="1770651"/>
            <a:chOff x="4179568" y="4142439"/>
            <a:chExt cx="8246746" cy="1770651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42FCBD94-8E6F-4BE1-B9D7-3B8151E6685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179568" y="4534255"/>
              <a:ext cx="8246746" cy="1378835"/>
            </a:xfrm>
            <a:prstGeom prst="rect">
              <a:avLst/>
            </a:prstGeom>
          </p:spPr>
        </p:pic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17C88BDC-7CE2-47B1-83D8-590FDFD0C2EC}"/>
                </a:ext>
              </a:extLst>
            </p:cNvPr>
            <p:cNvSpPr txBox="1"/>
            <p:nvPr/>
          </p:nvSpPr>
          <p:spPr>
            <a:xfrm>
              <a:off x="5073163" y="4142439"/>
              <a:ext cx="33813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000FF"/>
                  </a:solidFill>
                </a:rPr>
                <a:t>Client Manifest file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638523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35" grpId="0"/>
      <p:bldP spid="36" grpId="0"/>
      <p:bldP spid="38" grpId="0"/>
      <p:bldP spid="40" grpId="0"/>
      <p:bldP spid="4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97800"/>
            <a:ext cx="11841480" cy="6642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Bundle Deployment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3360" y="1224509"/>
            <a:ext cx="6720840" cy="2872540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Bundles are deployed on an </a:t>
            </a:r>
            <a:r>
              <a:rPr lang="en-US" sz="20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OSGi</a:t>
            </a:r>
            <a:r>
              <a:rPr lang="en-US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framework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 bundle runtime environment.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not a container like Java Application Servers. It is a </a:t>
            </a:r>
            <a:r>
              <a:rPr lang="en-US" sz="20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collaborative environment</a:t>
            </a:r>
            <a:r>
              <a:rPr lang="en-US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By Udara Samaratunge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25E54-448D-4B5B-9AD6-EE5883ED7EEA}" type="slidenum">
              <a:rPr lang="en-US" smtClean="0"/>
              <a:t>14</a:t>
            </a:fld>
            <a:endParaRPr lang="en-US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9563" y="945754"/>
            <a:ext cx="6132038" cy="29803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Content Placeholder 2"/>
          <p:cNvSpPr txBox="1">
            <a:spLocks/>
          </p:cNvSpPr>
          <p:nvPr/>
        </p:nvSpPr>
        <p:spPr>
          <a:xfrm>
            <a:off x="106680" y="3723135"/>
            <a:ext cx="12374880" cy="28633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Bundles run in the same VM and can actually share code.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framework uses the </a:t>
            </a:r>
            <a:r>
              <a:rPr lang="en-US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explicit imports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exports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wire up the bundles so they do not have to concern themselves with class loading.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SA (SLIIT)</a:t>
            </a:r>
          </a:p>
        </p:txBody>
      </p:sp>
    </p:spTree>
    <p:extLst>
      <p:ext uri="{BB962C8B-B14F-4D97-AF65-F5344CB8AC3E}">
        <p14:creationId xmlns:p14="http://schemas.microsoft.com/office/powerpoint/2010/main" val="30457405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By Udara Samaratunge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25E54-448D-4B5B-9AD6-EE5883ED7EEA}" type="slidenum">
              <a:rPr lang="en-US" smtClean="0"/>
              <a:t>15</a:t>
            </a:fld>
            <a:endParaRPr 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533400"/>
            <a:ext cx="10200624" cy="541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SA (SLIIT)</a:t>
            </a:r>
          </a:p>
        </p:txBody>
      </p:sp>
    </p:spTree>
    <p:extLst>
      <p:ext uri="{BB962C8B-B14F-4D97-AF65-F5344CB8AC3E}">
        <p14:creationId xmlns:p14="http://schemas.microsoft.com/office/powerpoint/2010/main" val="10042477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152400"/>
            <a:ext cx="11521440" cy="838200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OSGi</a:t>
            </a:r>
            <a:r>
              <a:rPr 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Service Platform Layering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0040" y="1295400"/>
            <a:ext cx="7040880" cy="5257800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OSGi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Service Platform is divided in a number of layers.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Execution Environment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 defined context for applications.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layer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class loading and packaging specifications.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Services layer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 collaboration model.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extensive </a:t>
            </a:r>
            <a:r>
              <a:rPr lang="en-US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Security layer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embedded in all layers.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By Udara Samaratunge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25E54-448D-4B5B-9AD6-EE5883ED7EEA}" type="slidenum">
              <a:rPr lang="en-US" smtClean="0"/>
              <a:t>16</a:t>
            </a:fld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3400" y="1600200"/>
            <a:ext cx="4008120" cy="2800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SA (SLIIT)</a:t>
            </a:r>
          </a:p>
        </p:txBody>
      </p:sp>
    </p:spTree>
    <p:extLst>
      <p:ext uri="{BB962C8B-B14F-4D97-AF65-F5344CB8AC3E}">
        <p14:creationId xmlns:p14="http://schemas.microsoft.com/office/powerpoint/2010/main" val="5557360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76200"/>
            <a:ext cx="11521440" cy="914400"/>
          </a:xfrm>
        </p:spPr>
        <p:txBody>
          <a:bodyPr/>
          <a:lstStyle/>
          <a:p>
            <a:r>
              <a:rPr lang="en-US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OSGi</a:t>
            </a:r>
            <a:r>
              <a:rPr 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Service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066264"/>
            <a:ext cx="11430000" cy="5410736"/>
          </a:xfrm>
        </p:spPr>
        <p:txBody>
          <a:bodyPr>
            <a:normAutofit lnSpcReduction="10000"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an inside-VM service model</a:t>
            </a:r>
          </a:p>
          <a:p>
            <a:pPr lvl="1"/>
            <a:r>
              <a:rPr lang="en-US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Discover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(and get notified about) </a:t>
            </a:r>
            <a:r>
              <a:rPr lang="en-US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services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based on their interface or properties, </a:t>
            </a:r>
            <a:r>
              <a:rPr lang="en-US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protocol required</a:t>
            </a:r>
          </a:p>
          <a:p>
            <a:pPr lvl="1"/>
            <a:r>
              <a:rPr lang="en-US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Bind to one or more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services by</a:t>
            </a:r>
          </a:p>
          <a:p>
            <a:pPr lvl="2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 control,</a:t>
            </a:r>
          </a:p>
          <a:p>
            <a:pPr lvl="2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default rules, or</a:t>
            </a:r>
          </a:p>
          <a:p>
            <a:pPr lvl="2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 configuration</a:t>
            </a:r>
          </a:p>
          <a:p>
            <a:pPr lvl="2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Service Oriented Architectures (SOA) Confusion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services </a:t>
            </a:r>
            <a:r>
              <a:rPr lang="en-US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bind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discover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 the net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OSGi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Service Platform binds and discovers </a:t>
            </a:r>
            <a:r>
              <a:rPr lang="en-US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inside a Java VM</a:t>
            </a:r>
          </a:p>
          <a:p>
            <a:pPr lvl="1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OSGi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Alliance provides many standardized services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OSGi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defines a standard set of services</a:t>
            </a:r>
          </a:p>
          <a:p>
            <a:pPr lvl="1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 organizations can define more (AMI-C,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Ertico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JCP)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By Udara Samaratunge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25E54-448D-4B5B-9AD6-EE5883ED7EEA}" type="slidenum">
              <a:rPr lang="en-US" smtClean="0"/>
              <a:t>17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SA (SLIIT)</a:t>
            </a:r>
          </a:p>
        </p:txBody>
      </p:sp>
    </p:spTree>
    <p:extLst>
      <p:ext uri="{BB962C8B-B14F-4D97-AF65-F5344CB8AC3E}">
        <p14:creationId xmlns:p14="http://schemas.microsoft.com/office/powerpoint/2010/main" val="29249172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0"/>
            <a:ext cx="11521440" cy="914400"/>
          </a:xfrm>
        </p:spPr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OSGi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Service Layer Evolution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By Udara Samaratunge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25E54-448D-4B5B-9AD6-EE5883ED7EEA}" type="slidenum">
              <a:rPr lang="en-US" smtClean="0"/>
              <a:t>18</a:t>
            </a:fld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0160" y="990601"/>
            <a:ext cx="9814560" cy="51753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SA (SLIIT)</a:t>
            </a:r>
          </a:p>
        </p:txBody>
      </p:sp>
    </p:spTree>
    <p:extLst>
      <p:ext uri="{BB962C8B-B14F-4D97-AF65-F5344CB8AC3E}">
        <p14:creationId xmlns:p14="http://schemas.microsoft.com/office/powerpoint/2010/main" val="6031836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0100" y="58604"/>
            <a:ext cx="11201400" cy="776287"/>
          </a:xfrm>
        </p:spPr>
        <p:txBody>
          <a:bodyPr/>
          <a:lstStyle/>
          <a:p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OSGi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Module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3360" y="1111993"/>
            <a:ext cx="8001000" cy="5413510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Packaging of applications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libraries in Bundles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 has significant deployment issues</a:t>
            </a:r>
          </a:p>
          <a:p>
            <a:pPr lvl="1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Loading modularization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 provides the Class Path as an ordered search list, which makes it hard to control multiple applications</a:t>
            </a:r>
          </a:p>
          <a:p>
            <a:pPr lvl="1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Protection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 can not protect certain packages and classes from others.</a:t>
            </a:r>
          </a:p>
          <a:p>
            <a:pPr lvl="1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Versioning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 can not handle multiple versions of the same package in a VM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By Udara Samaratunge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25E54-448D-4B5B-9AD6-EE5883ED7EEA}" type="slidenum">
              <a:rPr lang="en-US" smtClean="0"/>
              <a:t>19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4361" y="1371600"/>
            <a:ext cx="4493895" cy="3733800"/>
          </a:xfrm>
          <a:prstGeom prst="rect">
            <a:avLst/>
          </a:prstGeom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SA (SLIIT)</a:t>
            </a:r>
          </a:p>
        </p:txBody>
      </p:sp>
    </p:spTree>
    <p:extLst>
      <p:ext uri="{BB962C8B-B14F-4D97-AF65-F5344CB8AC3E}">
        <p14:creationId xmlns:p14="http://schemas.microsoft.com/office/powerpoint/2010/main" val="33240710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1"/>
            <a:ext cx="11521440" cy="930275"/>
          </a:xfrm>
        </p:spPr>
        <p:txBody>
          <a:bodyPr/>
          <a:lstStyle/>
          <a:p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OSGi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Services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2777" y="3105001"/>
            <a:ext cx="12001500" cy="3637273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Framework 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Service Registry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available to </a:t>
            </a:r>
            <a:r>
              <a:rPr lang="en-US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 bundles to collaborate with other bundles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Different bundles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(from different vendors) can implement the </a:t>
            </a:r>
            <a:r>
              <a:rPr lang="en-US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same interface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is not visible to users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operator to replace implementations without disrupting service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bundle can create an object and register it with the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OSGi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service registry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one or more interfaces.</a:t>
            </a: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0120" y="1242578"/>
            <a:ext cx="6279633" cy="16355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By Udara Samaratunge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25E54-448D-4B5B-9AD6-EE5883ED7EEA}" type="slidenum">
              <a:rPr lang="en-US" smtClean="0"/>
              <a:t>20</a:t>
            </a:fld>
            <a:endParaRPr lang="en-US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2006" y="901986"/>
            <a:ext cx="4309514" cy="19936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SA (SLIIT)</a:t>
            </a:r>
          </a:p>
        </p:txBody>
      </p:sp>
    </p:spTree>
    <p:extLst>
      <p:ext uri="{BB962C8B-B14F-4D97-AF65-F5344CB8AC3E}">
        <p14:creationId xmlns:p14="http://schemas.microsoft.com/office/powerpoint/2010/main" val="35465625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6720" y="518328"/>
            <a:ext cx="12268200" cy="5867400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 bundles can go to the 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registry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list all objects that are registered under a specific interfaces or class. 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bundle can therefore </a:t>
            </a:r>
            <a:r>
              <a:rPr lang="en-US" sz="20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register a service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it can </a:t>
            </a:r>
            <a:r>
              <a:rPr lang="en-US" sz="20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get</a:t>
            </a:r>
            <a:r>
              <a:rPr lang="en-US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service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it can </a:t>
            </a:r>
            <a:r>
              <a:rPr lang="en-US" sz="20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listen</a:t>
            </a:r>
            <a:r>
              <a:rPr lang="en-US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a service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appear or disappear. </a:t>
            </a:r>
          </a:p>
          <a:p>
            <a:endParaRPr lang="en-US" sz="20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Multiple bundles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register objects under the same interface or class with the same name.</a:t>
            </a: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Services are associated with 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properties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Powerful query language to find appropriate service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Bundles can update the properties of a service dynamically</a:t>
            </a:r>
          </a:p>
          <a:p>
            <a:pPr lvl="1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bundle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</a:t>
            </a:r>
            <a:r>
              <a:rPr lang="en-US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decide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withdraw its service </a:t>
            </a:r>
            <a:r>
              <a:rPr lang="en-US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the registry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while other bundles are still using this service</a:t>
            </a:r>
          </a:p>
          <a:p>
            <a:pPr lvl="1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By Udara Samaratunge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25E54-448D-4B5B-9AD6-EE5883ED7EEA}" type="slidenum">
              <a:rPr lang="en-US" smtClean="0"/>
              <a:t>21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SA (SLIIT)</a:t>
            </a:r>
          </a:p>
        </p:txBody>
      </p:sp>
    </p:spTree>
    <p:extLst>
      <p:ext uri="{BB962C8B-B14F-4D97-AF65-F5344CB8AC3E}">
        <p14:creationId xmlns:p14="http://schemas.microsoft.com/office/powerpoint/2010/main" val="927449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533400"/>
            <a:ext cx="11521440" cy="5334000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bundle can use a service (bind to) with any cardinality</a:t>
            </a:r>
          </a:p>
          <a:p>
            <a:pPr lvl="1"/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1..1, 0..1, 0..n</a:t>
            </a:r>
          </a:p>
          <a:p>
            <a:pPr lvl="1"/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service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be </a:t>
            </a:r>
            <a:r>
              <a:rPr lang="en-US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discovered dynamically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Active search with query filter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Listener interface</a:t>
            </a:r>
          </a:p>
          <a:p>
            <a:endParaRPr lang="en-US" sz="20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Services are dynamic</a:t>
            </a:r>
          </a:p>
          <a:p>
            <a:pPr lvl="1"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bundle can decide to </a:t>
            </a:r>
            <a:r>
              <a:rPr lang="en-US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withdraw its service from the registry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while other bundles are still using this service. Bundles using such a service must then ensure that they no longer use the service object and drop any references.</a:t>
            </a:r>
          </a:p>
          <a:p>
            <a:pPr lvl="1"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Services can go away at </a:t>
            </a:r>
            <a:r>
              <a:rPr lang="en-US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any time!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very </a:t>
            </a:r>
            <a:r>
              <a:rPr lang="en-US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dynamic!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By Udara Samaratunge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25E54-448D-4B5B-9AD6-EE5883ED7EEA}" type="slidenum">
              <a:rPr lang="en-US" smtClean="0"/>
              <a:t>22</a:t>
            </a:fld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SA (SLIIT)</a:t>
            </a:r>
          </a:p>
        </p:txBody>
      </p:sp>
    </p:spTree>
    <p:extLst>
      <p:ext uri="{BB962C8B-B14F-4D97-AF65-F5344CB8AC3E}">
        <p14:creationId xmlns:p14="http://schemas.microsoft.com/office/powerpoint/2010/main" val="18419475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By Udara Samaratunge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25E54-448D-4B5B-9AD6-EE5883ED7EEA}" type="slidenum">
              <a:rPr lang="en-US" smtClean="0"/>
              <a:t>23</a:t>
            </a:fld>
            <a:endParaRPr lang="en-US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" y="1894114"/>
            <a:ext cx="4830769" cy="4201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1307" y="1905000"/>
            <a:ext cx="7218373" cy="434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itle 1"/>
          <p:cNvSpPr txBox="1">
            <a:spLocks/>
          </p:cNvSpPr>
          <p:nvPr/>
        </p:nvSpPr>
        <p:spPr>
          <a:xfrm>
            <a:off x="106680" y="76200"/>
            <a:ext cx="1258824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 interaction and collaboration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SA (SLIIT)</a:t>
            </a:r>
          </a:p>
        </p:txBody>
      </p:sp>
    </p:spTree>
    <p:extLst>
      <p:ext uri="{BB962C8B-B14F-4D97-AF65-F5344CB8AC3E}">
        <p14:creationId xmlns:p14="http://schemas.microsoft.com/office/powerpoint/2010/main" val="3080775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0"/>
            <a:ext cx="11521440" cy="99060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Functionalities supported by </a:t>
            </a:r>
            <a:r>
              <a:rPr lang="en-US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OSGi</a:t>
            </a:r>
            <a:endParaRPr 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47800"/>
            <a:ext cx="12268200" cy="3124199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arenR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the complexity of the system.</a:t>
            </a:r>
          </a:p>
          <a:p>
            <a:pPr marL="514350" indent="-514350">
              <a:buFont typeface="+mj-lt"/>
              <a:buAutoNum type="arabicParenR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Managing service/component dependencies.</a:t>
            </a:r>
          </a:p>
          <a:p>
            <a:pPr marL="514350" indent="-514350">
              <a:buFont typeface="+mj-lt"/>
              <a:buAutoNum type="arabicParenR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Makes the components loosely-coupled and easy to manage.</a:t>
            </a:r>
          </a:p>
          <a:p>
            <a:pPr marL="514350" indent="-514350">
              <a:buFont typeface="+mj-lt"/>
              <a:buAutoNum type="arabicParenR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Increases the performance of the system.</a:t>
            </a:r>
          </a:p>
          <a:p>
            <a:pPr marL="514350" indent="-514350">
              <a:buFont typeface="+mj-lt"/>
              <a:buAutoNum type="arabicParenR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By Udara Samaratunge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25E54-448D-4B5B-9AD6-EE5883ED7EEA}" type="slidenum">
              <a:rPr lang="en-US" smtClean="0"/>
              <a:t>24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SA (SLIIT)</a:t>
            </a:r>
          </a:p>
        </p:txBody>
      </p:sp>
    </p:spTree>
    <p:extLst>
      <p:ext uri="{BB962C8B-B14F-4D97-AF65-F5344CB8AC3E}">
        <p14:creationId xmlns:p14="http://schemas.microsoft.com/office/powerpoint/2010/main" val="185081387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228600"/>
            <a:ext cx="11521440" cy="1143000"/>
          </a:xfrm>
        </p:spPr>
        <p:txBody>
          <a:bodyPr>
            <a:normAutofit/>
          </a:bodyPr>
          <a:lstStyle/>
          <a:p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OSGi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increase performance.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47800"/>
            <a:ext cx="10957560" cy="4724400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Consider a scenario where you have a large application which uses a logging framework. 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</a:t>
            </a:r>
            <a:r>
              <a:rPr lang="en-US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logging framework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be deployed as an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OSGi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Bundle, which </a:t>
            </a:r>
            <a:r>
              <a:rPr lang="en-US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 be managed independently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Therefore, it can be started when required by our application and can be stopped when not in use. 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Also the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OSGi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container makes these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bundles available as services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which can be subscribed by other parts of application.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By Udara Samaratunge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25E54-448D-4B5B-9AD6-EE5883ED7EEA}" type="slidenum">
              <a:rPr lang="en-US" smtClean="0"/>
              <a:t>25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SA (SLIIT)</a:t>
            </a:r>
          </a:p>
        </p:txBody>
      </p:sp>
    </p:spTree>
    <p:extLst>
      <p:ext uri="{BB962C8B-B14F-4D97-AF65-F5344CB8AC3E}">
        <p14:creationId xmlns:p14="http://schemas.microsoft.com/office/powerpoint/2010/main" val="21740455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7444" y="26504"/>
            <a:ext cx="11521440" cy="735496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 products uses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OSGi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3360" y="3733800"/>
            <a:ext cx="5547360" cy="2743200"/>
          </a:xfrm>
        </p:spPr>
        <p:txBody>
          <a:bodyPr>
            <a:norm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CQ5, uses the Apache Felix implementation of OSGI.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Apache Felix is a open-source project to implement the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OSGi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R4 Service Platform.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includes 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-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OSGi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framework and standard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services.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-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OSGi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-related technologies.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079"/>
          <a:stretch/>
        </p:blipFill>
        <p:spPr bwMode="auto">
          <a:xfrm>
            <a:off x="585595" y="1224097"/>
            <a:ext cx="4001645" cy="24378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By Udara Samaratunge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25E54-448D-4B5B-9AD6-EE5883ED7EEA}" type="slidenum">
              <a:rPr lang="en-US" smtClean="0"/>
              <a:t>26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746760" y="854765"/>
            <a:ext cx="2268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Adobe CQ (CMS app)</a:t>
            </a: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7638" y="1219200"/>
            <a:ext cx="6287162" cy="266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7678" y="5285116"/>
            <a:ext cx="5067300" cy="10394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7678" y="4038600"/>
            <a:ext cx="5647082" cy="10027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SA (SLIIT)</a:t>
            </a:r>
          </a:p>
        </p:txBody>
      </p:sp>
    </p:spTree>
    <p:extLst>
      <p:ext uri="{BB962C8B-B14F-4D97-AF65-F5344CB8AC3E}">
        <p14:creationId xmlns:p14="http://schemas.microsoft.com/office/powerpoint/2010/main" val="355048201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152400"/>
            <a:ext cx="11521440" cy="914400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Layers: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OSGi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Life Cycle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6720" y="1295400"/>
            <a:ext cx="5974080" cy="4724400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Bundle represents the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OSGi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Framework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an API for managing bundles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Install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Resolve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Start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Stop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Refresh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Update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Uninstall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By </a:t>
            </a:r>
            <a:r>
              <a:rPr lang="en-US" dirty="0" err="1"/>
              <a:t>Udara</a:t>
            </a:r>
            <a:r>
              <a:rPr lang="en-US" dirty="0"/>
              <a:t> </a:t>
            </a:r>
            <a:r>
              <a:rPr lang="en-US" dirty="0" err="1"/>
              <a:t>Samaratunge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25E54-448D-4B5B-9AD6-EE5883ED7EEA}" type="slidenum">
              <a:rPr lang="en-US" smtClean="0"/>
              <a:t>27</a:t>
            </a:fld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4158" y="1447801"/>
            <a:ext cx="5211751" cy="425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SA (SLIIT)</a:t>
            </a:r>
          </a:p>
        </p:txBody>
      </p:sp>
    </p:spTree>
    <p:extLst>
      <p:ext uri="{BB962C8B-B14F-4D97-AF65-F5344CB8AC3E}">
        <p14:creationId xmlns:p14="http://schemas.microsoft.com/office/powerpoint/2010/main" val="427618257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76200"/>
            <a:ext cx="11521440" cy="762000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Layers: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OSGi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Life Cycle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3360" y="1143000"/>
            <a:ext cx="7360920" cy="5638800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Bundle is started by the </a:t>
            </a:r>
            <a:r>
              <a:rPr lang="en-US" sz="20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Bundle Activator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Header in the JAR manifest file refer to this class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Bundle Activator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interface has 2 methods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Start: Initialize and return immediate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Stop: Cleanup</a:t>
            </a:r>
          </a:p>
          <a:p>
            <a:pPr lvl="1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0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Bundle Activator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gets a </a:t>
            </a:r>
            <a:r>
              <a:rPr lang="en-US" sz="20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Bundle Context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provides access to the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OSGi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Framework functions. 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Framework provides the Start Level service to control the start/stop of groups of applications.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By Udara Samaratunge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25E54-448D-4B5B-9AD6-EE5883ED7EEA}" type="slidenum">
              <a:rPr lang="en-US" smtClean="0"/>
              <a:t>28</a:t>
            </a:fld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86353" y="1143000"/>
            <a:ext cx="5120640" cy="30152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SA (SLIIT)</a:t>
            </a:r>
          </a:p>
        </p:txBody>
      </p:sp>
    </p:spTree>
    <p:extLst>
      <p:ext uri="{BB962C8B-B14F-4D97-AF65-F5344CB8AC3E}">
        <p14:creationId xmlns:p14="http://schemas.microsoft.com/office/powerpoint/2010/main" val="211407613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11521440" cy="1143000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OSGI life cycle methods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0710" y="1600200"/>
            <a:ext cx="6827520" cy="5257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40" y="1567543"/>
            <a:ext cx="5360670" cy="15566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120015" y="3124199"/>
            <a:ext cx="5760720" cy="1219200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dirty="0"/>
              <a:t>States of bundles</a:t>
            </a:r>
          </a:p>
          <a:p>
            <a:r>
              <a:rPr lang="en-US" dirty="0"/>
              <a:t>Installed – finish bundle installation </a:t>
            </a:r>
          </a:p>
          <a:p>
            <a:r>
              <a:rPr lang="en-US" dirty="0"/>
              <a:t>Active  –  start the bundle</a:t>
            </a:r>
          </a:p>
          <a:p>
            <a:r>
              <a:rPr lang="en-US" dirty="0"/>
              <a:t>Resolved – stop the bundle</a:t>
            </a:r>
          </a:p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By Udara Samaratunge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25E54-448D-4B5B-9AD6-EE5883ED7EEA}" type="slidenum">
              <a:rPr lang="en-US" smtClean="0"/>
              <a:t>29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SA (SLIIT)</a:t>
            </a:r>
          </a:p>
        </p:txBody>
      </p:sp>
    </p:spTree>
    <p:extLst>
      <p:ext uri="{BB962C8B-B14F-4D97-AF65-F5344CB8AC3E}">
        <p14:creationId xmlns:p14="http://schemas.microsoft.com/office/powerpoint/2010/main" val="254146828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0"/>
            <a:ext cx="11521440" cy="838200"/>
          </a:xfrm>
        </p:spPr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Manipulating Services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9786" y="1240718"/>
            <a:ext cx="7574280" cy="5298195"/>
          </a:xfrm>
        </p:spPr>
        <p:txBody>
          <a:bodyPr>
            <a:normAutofit fontScale="85000" lnSpcReduction="2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Bundle Context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the methods to manipulate the service registry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Services registrations are handled by </a:t>
            </a:r>
            <a:r>
              <a:rPr lang="en-US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Service Registration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objects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can be used to unregister a service or modify its properties</a:t>
            </a:r>
          </a:p>
          <a:p>
            <a:pPr lvl="1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Service Reference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objects give access to the service as well as to the service’s properties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 to service objects is through the </a:t>
            </a:r>
            <a:r>
              <a:rPr lang="en-US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getService</a:t>
            </a:r>
            <a:r>
              <a:rPr lang="en-US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method. These services should be returned with the </a:t>
            </a:r>
            <a:r>
              <a:rPr lang="en-US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ungetService</a:t>
            </a:r>
            <a:r>
              <a:rPr lang="en-US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By Udara Samaratunge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25E54-448D-4B5B-9AD6-EE5883ED7EEA}" type="slidenum">
              <a:rPr lang="en-US" smtClean="0"/>
              <a:t>30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4281" y="1224192"/>
            <a:ext cx="5035967" cy="2966808"/>
          </a:xfrm>
          <a:prstGeom prst="rect">
            <a:avLst/>
          </a:prstGeom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SA (SLIIT)</a:t>
            </a:r>
          </a:p>
        </p:txBody>
      </p:sp>
    </p:spTree>
    <p:extLst>
      <p:ext uri="{BB962C8B-B14F-4D97-AF65-F5344CB8AC3E}">
        <p14:creationId xmlns:p14="http://schemas.microsoft.com/office/powerpoint/2010/main" val="55412219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1431410"/>
            <a:ext cx="11521440" cy="4525963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http://www.osgi.org/Main/HomePage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  <a:hlinkClick r:id="rId2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http://www.osgi.org/Technology/WhatIsOSGi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  <a:hlinkClick r:id="rId2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http://en.wikipedia.org/wiki/OSGi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  <a:hlinkClick r:id="rId2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http://grepcode.com/file/repository.grepcode.com/java/eclipse.org/3.5/org.eclipse/osgi/3.5.0/org/osgi/framework/BundleContext.java#BundleContext.getBundle%28long%29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http://felix.apache.org/site/apache-felix-framework-usage-documentation.html</a:t>
            </a:r>
            <a:endParaRPr lang="en-US" sz="2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By Udara Samaratunge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25E54-448D-4B5B-9AD6-EE5883ED7EEA}" type="slidenum">
              <a:rPr lang="en-US" smtClean="0"/>
              <a:t>31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SA (SLIIT)</a:t>
            </a:r>
          </a:p>
        </p:txBody>
      </p:sp>
    </p:spTree>
    <p:extLst>
      <p:ext uri="{BB962C8B-B14F-4D97-AF65-F5344CB8AC3E}">
        <p14:creationId xmlns:p14="http://schemas.microsoft.com/office/powerpoint/2010/main" val="6872681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8910</TotalTime>
  <Words>2125</Words>
  <Application>Microsoft Office PowerPoint</Application>
  <PresentationFormat>Custom</PresentationFormat>
  <Paragraphs>386</Paragraphs>
  <Slides>31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5" baseType="lpstr">
      <vt:lpstr>Arial</vt:lpstr>
      <vt:lpstr>Calibri</vt:lpstr>
      <vt:lpstr>Times New Roman</vt:lpstr>
      <vt:lpstr>Office Theme</vt:lpstr>
      <vt:lpstr>PowerPoint Presentation</vt:lpstr>
      <vt:lpstr>Plugin-architecture Pattern</vt:lpstr>
      <vt:lpstr>What is OSGi?</vt:lpstr>
      <vt:lpstr>PowerPoint Presentation</vt:lpstr>
      <vt:lpstr>The OSGi Platform vs Service Oriented Architectures (SOA)</vt:lpstr>
      <vt:lpstr>The OSGi Framework Architecture</vt:lpstr>
      <vt:lpstr>OSGi Bundle Architecture</vt:lpstr>
      <vt:lpstr>What is a Bundle?</vt:lpstr>
      <vt:lpstr>Practical Example</vt:lpstr>
      <vt:lpstr>PowerPoint Presentation</vt:lpstr>
      <vt:lpstr>Practical Example</vt:lpstr>
      <vt:lpstr>Practical Example</vt:lpstr>
      <vt:lpstr>PowerPoint Presentation</vt:lpstr>
      <vt:lpstr>Bundle Deployment</vt:lpstr>
      <vt:lpstr>PowerPoint Presentation</vt:lpstr>
      <vt:lpstr>OSGi Service Platform Layering</vt:lpstr>
      <vt:lpstr>OSGi Service Layer</vt:lpstr>
      <vt:lpstr>The OSGi Service Layer Evolution</vt:lpstr>
      <vt:lpstr>OSGi Module Layer</vt:lpstr>
      <vt:lpstr>OSGi Services</vt:lpstr>
      <vt:lpstr>PowerPoint Presentation</vt:lpstr>
      <vt:lpstr>PowerPoint Presentation</vt:lpstr>
      <vt:lpstr>PowerPoint Presentation</vt:lpstr>
      <vt:lpstr>Functionalities supported by OSGi</vt:lpstr>
      <vt:lpstr>OSGi increase performance.</vt:lpstr>
      <vt:lpstr>Custom products uses OSGi </vt:lpstr>
      <vt:lpstr>Layers: OSGi Life Cycle Layer</vt:lpstr>
      <vt:lpstr>Layers: OSGi Life Cycle Layer</vt:lpstr>
      <vt:lpstr>OSGI life cycle methods</vt:lpstr>
      <vt:lpstr>Manipulating Services</vt:lpstr>
      <vt:lpstr>References</vt:lpstr>
    </vt:vector>
  </TitlesOfParts>
  <Company>Virtusa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Apache Felix (OSGi)</dc:title>
  <dc:creator>Udara Samaratunge</dc:creator>
  <cp:lastModifiedBy>Udara</cp:lastModifiedBy>
  <cp:revision>195</cp:revision>
  <dcterms:created xsi:type="dcterms:W3CDTF">2012-09-10T06:36:36Z</dcterms:created>
  <dcterms:modified xsi:type="dcterms:W3CDTF">2021-02-19T10:54:41Z</dcterms:modified>
</cp:coreProperties>
</file>