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7" r:id="rId2"/>
    <p:sldId id="292" r:id="rId3"/>
    <p:sldId id="293" r:id="rId4"/>
    <p:sldId id="294" r:id="rId5"/>
    <p:sldId id="258" r:id="rId6"/>
    <p:sldId id="296" r:id="rId7"/>
    <p:sldId id="297" r:id="rId8"/>
    <p:sldId id="298" r:id="rId9"/>
    <p:sldId id="299" r:id="rId10"/>
    <p:sldId id="311" r:id="rId11"/>
    <p:sldId id="312" r:id="rId12"/>
    <p:sldId id="313" r:id="rId13"/>
    <p:sldId id="314" r:id="rId14"/>
    <p:sldId id="315" r:id="rId15"/>
    <p:sldId id="316" r:id="rId16"/>
    <p:sldId id="300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295" r:id="rId26"/>
    <p:sldId id="30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502" autoAdjust="0"/>
  </p:normalViewPr>
  <p:slideViewPr>
    <p:cSldViewPr snapToGrid="0">
      <p:cViewPr varScale="1">
        <p:scale>
          <a:sx n="61" d="100"/>
          <a:sy n="61" d="100"/>
        </p:scale>
        <p:origin x="10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E0E0-3C2B-4114-AF54-35E67292565D}" type="datetimeFigureOut">
              <a:rPr lang="en-US" smtClean="0"/>
              <a:t>2/22/2018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ABE5C-72CE-46B1-9C7D-D65560E42A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9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8C73F-D5E5-430D-9F94-3EBFB229B4F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30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55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baseline="0" dirty="0"/>
              <a:t>Developing Organization:</a:t>
            </a:r>
          </a:p>
          <a:p>
            <a:r>
              <a:rPr lang="en-US" b="1" baseline="0" dirty="0"/>
              <a:t>Investments already made:</a:t>
            </a:r>
            <a:r>
              <a:rPr lang="en-US" baseline="0" dirty="0"/>
              <a:t> The Team may be already invested on certain technologies and expertise</a:t>
            </a:r>
          </a:p>
          <a:p>
            <a:r>
              <a:rPr lang="en-US" b="1" baseline="0" dirty="0"/>
              <a:t>Future Investments:</a:t>
            </a:r>
            <a:r>
              <a:rPr lang="en-US" baseline="0" dirty="0"/>
              <a:t> The Organization may be planning to make future investments (i.e. infrastructure) as a part of the new Architecture</a:t>
            </a:r>
          </a:p>
          <a:p>
            <a:r>
              <a:rPr lang="en-US" b="1" baseline="0" dirty="0"/>
              <a:t>Organizational Structure:</a:t>
            </a:r>
            <a:r>
              <a:rPr lang="en-US" baseline="0" dirty="0"/>
              <a:t> Using internal teams or even subcontracting certain areas to specialized teams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15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baseline="0" dirty="0"/>
              <a:t>Output:</a:t>
            </a:r>
            <a:r>
              <a:rPr lang="en-US" baseline="0" dirty="0"/>
              <a:t> Architecture that leads to the System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7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99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885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Consequences / Results of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037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645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86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049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94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30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057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680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Implementation of the system to the </a:t>
            </a:r>
            <a:r>
              <a:rPr lang="en-US" b="1" u="sng" baseline="0" dirty="0"/>
              <a:t>Clients</a:t>
            </a:r>
            <a:r>
              <a:rPr lang="en-US" baseline="0" dirty="0"/>
              <a:t> (not the development of the system)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5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945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434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225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44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504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359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05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723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02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ABE5C-72CE-46B1-9C7D-D65560E42AC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36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11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5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3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12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6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8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17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1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3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48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5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350D3-8DB5-4BAF-BB76-4F5E8359DF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90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s.uci.edu/~taylor/classes/211/DesignAndArchitecture.pdf" TargetMode="External"/><Relationship Id="rId2" Type="http://schemas.openxmlformats.org/officeDocument/2006/relationships/hyperlink" Target="http://www.ece.ubc.ca/~matei/EECE417/BASS/ch01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468" y="2937301"/>
            <a:ext cx="10011104" cy="914400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Activities &amp;</a:t>
            </a:r>
            <a:br>
              <a:rPr lang="en-US" sz="5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4270386"/>
            <a:ext cx="5958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Year – Semester 1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4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155" y="533401"/>
            <a:ext cx="1295400" cy="15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6FFB-470A-4E43-9360-132999DAEA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2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Process &amp; the ABC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activities are involved in creating a Software Architecture?</a:t>
            </a:r>
          </a:p>
          <a:p>
            <a:r>
              <a:rPr lang="en-US" dirty="0"/>
              <a:t>Using the selected Architecture how to realize a Design and then Implement or Manage the Evolution of a target system or application?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Architectures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architecture is the result of a set of business and technical decisions</a:t>
            </a:r>
          </a:p>
          <a:p>
            <a:r>
              <a:rPr lang="en-US" dirty="0"/>
              <a:t>Influenced by:</a:t>
            </a:r>
          </a:p>
          <a:p>
            <a:pPr lvl="1"/>
            <a:r>
              <a:rPr lang="en-US" dirty="0"/>
              <a:t>Stakeholders</a:t>
            </a:r>
          </a:p>
          <a:p>
            <a:pPr lvl="2"/>
            <a:r>
              <a:rPr lang="en-US" dirty="0"/>
              <a:t>Management: Low Cost | Marketing: Time to Market | End User: UX, Security</a:t>
            </a:r>
          </a:p>
          <a:p>
            <a:pPr lvl="1"/>
            <a:r>
              <a:rPr lang="en-US" dirty="0"/>
              <a:t>Developing Organization</a:t>
            </a:r>
          </a:p>
          <a:p>
            <a:pPr lvl="2"/>
            <a:r>
              <a:rPr lang="en-US" dirty="0"/>
              <a:t>Investments already made | Future Investments | Organizational Structure</a:t>
            </a:r>
          </a:p>
          <a:p>
            <a:pPr lvl="1"/>
            <a:r>
              <a:rPr lang="en-US" dirty="0"/>
              <a:t>Experience &amp; Background of the Architect(s)</a:t>
            </a:r>
          </a:p>
          <a:p>
            <a:pPr lvl="2"/>
            <a:r>
              <a:rPr lang="en-US" dirty="0"/>
              <a:t>Technical Skills | Domain Knowledge</a:t>
            </a:r>
          </a:p>
          <a:p>
            <a:pPr lvl="1"/>
            <a:r>
              <a:rPr lang="en-US" dirty="0"/>
              <a:t>Technical Environment</a:t>
            </a:r>
          </a:p>
          <a:p>
            <a:pPr lvl="2"/>
            <a:r>
              <a:rPr lang="en-US" dirty="0"/>
              <a:t>Software Engineering Techniques, practices &amp; processes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4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Architect’s Influence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04" y="1434662"/>
            <a:ext cx="10077592" cy="492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3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Business Cycle (ABC)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architecture is a result of technical, business, and social influences.</a:t>
            </a:r>
          </a:p>
          <a:p>
            <a:r>
              <a:rPr lang="en-US" dirty="0"/>
              <a:t>Its existence in turn affects the technical, business, and social environments that subsequently influence future architectures.</a:t>
            </a:r>
          </a:p>
          <a:p>
            <a:r>
              <a:rPr lang="en-US" dirty="0"/>
              <a:t>We call this cycle of influences, from the environment to the architecture and back to the environment, the Architecture Business Cycle (ABC)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1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Business Cycle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76" y="1362459"/>
            <a:ext cx="9396248" cy="499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8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Ramifications of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Affects the structure of the developing organization</a:t>
            </a:r>
          </a:p>
          <a:p>
            <a:pPr lvl="1"/>
            <a:r>
              <a:rPr lang="en-US" dirty="0"/>
              <a:t>Team Structure, Specialized Skills for Teams, etc.</a:t>
            </a:r>
          </a:p>
          <a:p>
            <a:r>
              <a:rPr lang="en-US" dirty="0"/>
              <a:t>Affects the Goals of development organization</a:t>
            </a:r>
          </a:p>
          <a:p>
            <a:pPr lvl="1"/>
            <a:r>
              <a:rPr lang="en-US" dirty="0"/>
              <a:t>The organization may adjust its goals depending on the result of the current system to explore the future markets</a:t>
            </a:r>
          </a:p>
          <a:p>
            <a:r>
              <a:rPr lang="en-US" dirty="0"/>
              <a:t>Affects future customer requirements</a:t>
            </a:r>
          </a:p>
          <a:p>
            <a:r>
              <a:rPr lang="en-US" dirty="0"/>
              <a:t>Affects the Architect</a:t>
            </a:r>
          </a:p>
          <a:p>
            <a:pPr lvl="1"/>
            <a:r>
              <a:rPr lang="en-US" dirty="0"/>
              <a:t>Architect also will gain more experience based on the results</a:t>
            </a:r>
          </a:p>
          <a:p>
            <a:r>
              <a:rPr lang="en-US" dirty="0"/>
              <a:t>Affects the Development Process &amp; Culture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6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the Business Case for the System</a:t>
            </a:r>
          </a:p>
          <a:p>
            <a:r>
              <a:rPr lang="en-US" dirty="0"/>
              <a:t>Understanding the Requirements</a:t>
            </a:r>
          </a:p>
          <a:p>
            <a:r>
              <a:rPr lang="en-US" dirty="0"/>
              <a:t>Creating or Selecting the Architecture</a:t>
            </a:r>
          </a:p>
          <a:p>
            <a:r>
              <a:rPr lang="en-US" dirty="0"/>
              <a:t>Documenting and Communicating the Architecture</a:t>
            </a:r>
          </a:p>
          <a:p>
            <a:r>
              <a:rPr lang="en-US" dirty="0"/>
              <a:t>Analyzing or Evaluating the Architecture</a:t>
            </a:r>
          </a:p>
          <a:p>
            <a:r>
              <a:rPr lang="en-US" dirty="0"/>
              <a:t>Implementing the system based on the Architecture</a:t>
            </a:r>
          </a:p>
          <a:p>
            <a:r>
              <a:rPr lang="en-US" dirty="0"/>
              <a:t>Ensuring that the implementation Conforms to the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55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Business Case for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Assess the market need for a system</a:t>
            </a:r>
          </a:p>
          <a:p>
            <a:r>
              <a:rPr lang="en-US" dirty="0"/>
              <a:t>How much should the product cost?</a:t>
            </a:r>
          </a:p>
          <a:p>
            <a:r>
              <a:rPr lang="en-US" dirty="0"/>
              <a:t>What is its targeted market?</a:t>
            </a:r>
          </a:p>
          <a:p>
            <a:r>
              <a:rPr lang="en-US" dirty="0"/>
              <a:t>What is its targeted time to market?</a:t>
            </a:r>
          </a:p>
          <a:p>
            <a:r>
              <a:rPr lang="en-US" dirty="0"/>
              <a:t>Will it need to interface with other systems?</a:t>
            </a:r>
          </a:p>
          <a:p>
            <a:r>
              <a:rPr lang="en-US" dirty="0"/>
              <a:t>Are there system limitations that it must work within?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Above cannot be decided solely by an architect, but if an architect is </a:t>
            </a:r>
            <a:r>
              <a:rPr lang="en-US" u="sng" dirty="0"/>
              <a:t>not consulted </a:t>
            </a:r>
            <a:r>
              <a:rPr lang="en-US" dirty="0"/>
              <a:t>in the creation of the business case, it may be impossible to achieve the business goals!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1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Various methods exists for capturing functional requirements;</a:t>
            </a:r>
          </a:p>
          <a:p>
            <a:pPr lvl="1"/>
            <a:r>
              <a:rPr lang="en-US" dirty="0"/>
              <a:t>OOAD uses Scenarios or Use Cases</a:t>
            </a:r>
          </a:p>
          <a:p>
            <a:pPr lvl="1"/>
            <a:r>
              <a:rPr lang="en-US" dirty="0"/>
              <a:t>Safety Critical Systems uses Finite-state-machine models or Formal specification language</a:t>
            </a:r>
          </a:p>
          <a:p>
            <a:r>
              <a:rPr lang="en-US" dirty="0"/>
              <a:t>For Non-Functional requirements;</a:t>
            </a:r>
          </a:p>
          <a:p>
            <a:pPr lvl="1"/>
            <a:r>
              <a:rPr lang="en-US" dirty="0"/>
              <a:t>Quality Attribute Scenarios</a:t>
            </a:r>
          </a:p>
          <a:p>
            <a:r>
              <a:rPr lang="en-US" dirty="0"/>
              <a:t>Prototyping</a:t>
            </a:r>
          </a:p>
          <a:p>
            <a:r>
              <a:rPr lang="en-US" dirty="0"/>
              <a:t>Domain Modeling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844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5255"/>
          <a:stretch/>
        </p:blipFill>
        <p:spPr>
          <a:xfrm>
            <a:off x="4900449" y="2266457"/>
            <a:ext cx="6182710" cy="42724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or Selecting 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of how to create an architecture to achieve its behavioral and quality requirements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1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Documenting and Communicating 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architecture to be effective as the backbone of the project's design, it must be communicated clearly and unambiguously to all of the stakeholders</a:t>
            </a:r>
          </a:p>
          <a:p>
            <a:pPr lvl="1"/>
            <a:r>
              <a:rPr lang="en-US" dirty="0"/>
              <a:t>Developers: must understand the work assignments it requires of them</a:t>
            </a:r>
          </a:p>
          <a:p>
            <a:pPr lvl="1"/>
            <a:r>
              <a:rPr lang="en-US" dirty="0"/>
              <a:t>Testers: must understand the task structure it imposes on them</a:t>
            </a:r>
          </a:p>
          <a:p>
            <a:pPr lvl="1"/>
            <a:r>
              <a:rPr lang="en-US" dirty="0"/>
              <a:t>Management: must understand the scheduling implications it suggests</a:t>
            </a:r>
          </a:p>
          <a:p>
            <a:r>
              <a:rPr lang="en-US" dirty="0"/>
              <a:t>Architectural documentation should be informative, unambiguous, and readable by many people with varied backgrounds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or Evaluating 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any design process there will be multiple candidate designs considered, some will be rejected immediately and others will contend for primacy</a:t>
            </a:r>
          </a:p>
          <a:p>
            <a:r>
              <a:rPr lang="en-US" dirty="0"/>
              <a:t>Choosing among these competing designs in a rational way is one of the </a:t>
            </a:r>
            <a:r>
              <a:rPr lang="en-US" u="sng" dirty="0"/>
              <a:t>architect's greatest challenges</a:t>
            </a:r>
          </a:p>
          <a:p>
            <a:r>
              <a:rPr lang="en-US" dirty="0"/>
              <a:t>Methods:</a:t>
            </a:r>
          </a:p>
          <a:p>
            <a:pPr lvl="1"/>
            <a:r>
              <a:rPr lang="en-US" dirty="0"/>
              <a:t>Architecture Tradeoff Analysis Method (ATAM) is the most mature methodology</a:t>
            </a:r>
          </a:p>
          <a:p>
            <a:pPr lvl="1"/>
            <a:r>
              <a:rPr lang="en-US" dirty="0"/>
              <a:t>Cost Benefit Analysis Method (CBAM) focuses more on economic implications of architectural decisions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567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Implementing the system based on 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Ensure the developers are kept faithful to the structures and interaction protocols constrained by the architecture</a:t>
            </a:r>
          </a:p>
          <a:p>
            <a:r>
              <a:rPr lang="en-US" dirty="0"/>
              <a:t>The Environment should assists developers in creating and maintaining the architecture</a:t>
            </a:r>
          </a:p>
          <a:p>
            <a:r>
              <a:rPr lang="en-US" dirty="0"/>
              <a:t>Architect’s involvements:</a:t>
            </a:r>
          </a:p>
          <a:p>
            <a:pPr lvl="1"/>
            <a:r>
              <a:rPr lang="en-US" dirty="0"/>
              <a:t>Technology &amp; Technical Infrastructure Selection &amp; Setup</a:t>
            </a:r>
          </a:p>
          <a:p>
            <a:pPr lvl="1"/>
            <a:r>
              <a:rPr lang="en-US" dirty="0"/>
              <a:t>Setting up Appropriate Software Engineering Processes</a:t>
            </a:r>
          </a:p>
          <a:p>
            <a:pPr lvl="1"/>
            <a:r>
              <a:rPr lang="en-US" dirty="0"/>
              <a:t>Creating the Team</a:t>
            </a:r>
          </a:p>
          <a:p>
            <a:pPr lvl="2"/>
            <a:r>
              <a:rPr lang="en-US" dirty="0"/>
              <a:t>Identify Technical specialists</a:t>
            </a:r>
          </a:p>
          <a:p>
            <a:pPr lvl="2"/>
            <a:r>
              <a:rPr lang="en-US" dirty="0"/>
              <a:t>Identify Skill Gaps and mitigate (trainings, etc.)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512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Ensuring that the implementation Conforms to 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Constant vigilance is required to ensure that the actual architecture and its representation remain faithful to each other in the maintenance phase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50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 such thing as an inherently good or bad architecture</a:t>
            </a:r>
          </a:p>
          <a:p>
            <a:r>
              <a:rPr lang="en-US" dirty="0"/>
              <a:t>Architectures are more or less fit for some stated purpose</a:t>
            </a:r>
          </a:p>
          <a:p>
            <a:r>
              <a:rPr lang="en-US" dirty="0"/>
              <a:t>Architectures can be evaluated</a:t>
            </a:r>
          </a:p>
          <a:p>
            <a:pPr lvl="1"/>
            <a:r>
              <a:rPr lang="en-US" dirty="0"/>
              <a:t>One of the great benefits of paying attention to them</a:t>
            </a:r>
          </a:p>
          <a:p>
            <a:pPr lvl="1"/>
            <a:r>
              <a:rPr lang="en-US" dirty="0"/>
              <a:t>Should be evaluated only in the context of specific goals</a:t>
            </a:r>
          </a:p>
          <a:p>
            <a:r>
              <a:rPr lang="en-US" dirty="0"/>
              <a:t>Rules of Thumb (from knowledge &amp; experience):</a:t>
            </a:r>
          </a:p>
          <a:p>
            <a:pPr lvl="1"/>
            <a:r>
              <a:rPr lang="en-US" dirty="0"/>
              <a:t>Process Recommendations:</a:t>
            </a:r>
          </a:p>
          <a:p>
            <a:pPr lvl="2"/>
            <a:r>
              <a:rPr lang="en-US" dirty="0"/>
              <a:t>Functional Requirements &amp; identifying Quality Attributes which are of high priority</a:t>
            </a:r>
          </a:p>
          <a:p>
            <a:pPr lvl="2"/>
            <a:r>
              <a:rPr lang="en-US" dirty="0"/>
              <a:t>Analyze &amp; formally evaluate before it is too late to change</a:t>
            </a:r>
          </a:p>
          <a:p>
            <a:pPr lvl="1"/>
            <a:r>
              <a:rPr lang="en-US" dirty="0"/>
              <a:t>Product Recommendations:</a:t>
            </a:r>
          </a:p>
          <a:p>
            <a:pPr lvl="2"/>
            <a:r>
              <a:rPr lang="en-US" dirty="0"/>
              <a:t>Software Principles e.g. Information hiding, Separation of concerns</a:t>
            </a:r>
          </a:p>
          <a:p>
            <a:pPr lvl="2"/>
            <a:r>
              <a:rPr lang="en-US" dirty="0"/>
              <a:t>Write tasks or processes to allow easy reallocation, perhaps at runtime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27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 of the Design Process:</a:t>
            </a:r>
          </a:p>
          <a:p>
            <a:pPr lvl="1"/>
            <a:r>
              <a:rPr lang="en-US" dirty="0"/>
              <a:t>Creativity</a:t>
            </a:r>
          </a:p>
          <a:p>
            <a:pPr lvl="2"/>
            <a:r>
              <a:rPr lang="en-US" dirty="0"/>
              <a:t>Enhance your skillset</a:t>
            </a:r>
          </a:p>
          <a:p>
            <a:pPr lvl="2"/>
            <a:r>
              <a:rPr lang="en-US" dirty="0"/>
              <a:t>Provide new tools</a:t>
            </a:r>
          </a:p>
          <a:p>
            <a:pPr lvl="1"/>
            <a:r>
              <a:rPr lang="en-US" dirty="0"/>
              <a:t>Method</a:t>
            </a:r>
          </a:p>
          <a:p>
            <a:pPr lvl="2"/>
            <a:r>
              <a:rPr lang="en-US" dirty="0"/>
              <a:t>Focus on highly effective techniques</a:t>
            </a:r>
          </a:p>
          <a:p>
            <a:pPr lvl="1"/>
            <a:r>
              <a:rPr lang="en-US" dirty="0"/>
              <a:t>Develop judgment: when to develop novel solutions, and when to follow established method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30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Feasibility:</a:t>
            </a:r>
          </a:p>
          <a:p>
            <a:pPr lvl="1"/>
            <a:r>
              <a:rPr lang="en-US" dirty="0"/>
              <a:t>Identifying a set of feasible concepts for the design as a whole</a:t>
            </a:r>
          </a:p>
          <a:p>
            <a:r>
              <a:rPr lang="en-US" dirty="0"/>
              <a:t>Preliminary design:</a:t>
            </a:r>
          </a:p>
          <a:p>
            <a:pPr lvl="1"/>
            <a:r>
              <a:rPr lang="en-US" dirty="0"/>
              <a:t>Selection and development of the best concept</a:t>
            </a:r>
          </a:p>
          <a:p>
            <a:r>
              <a:rPr lang="en-US" dirty="0"/>
              <a:t>Detailed design:</a:t>
            </a:r>
          </a:p>
          <a:p>
            <a:pPr lvl="1"/>
            <a:r>
              <a:rPr lang="en-US" dirty="0"/>
              <a:t>Development of engineering descriptions of the concept</a:t>
            </a:r>
          </a:p>
          <a:p>
            <a:r>
              <a:rPr lang="en-US" dirty="0"/>
              <a:t>Planning:</a:t>
            </a:r>
          </a:p>
          <a:p>
            <a:pPr lvl="1"/>
            <a:r>
              <a:rPr lang="en-US" dirty="0"/>
              <a:t>Evaluating and altering the concept to suit the requirements of production, distribution, consumption and product retirement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485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Potential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 designer is unable to produce a set of feasible concepts, progress stops</a:t>
            </a:r>
          </a:p>
          <a:p>
            <a:r>
              <a:rPr lang="en-US" dirty="0"/>
              <a:t>As problems and products increase in size and complexity, the probability that any one individual can successfully perform the first steps decreases</a:t>
            </a:r>
          </a:p>
          <a:p>
            <a:r>
              <a:rPr lang="en-US" dirty="0"/>
              <a:t>The standard approach does not directly address the situation where system design is at stake, i.e. when relationship between a set of products is at issue</a:t>
            </a:r>
          </a:p>
          <a:p>
            <a:r>
              <a:rPr lang="en-US" dirty="0"/>
              <a:t>As complexity increases or the experience of the designer is not sufficient, alternative approaches to the design process must be adopted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264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Design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600" dirty="0"/>
              <a:t>Standard</a:t>
            </a:r>
          </a:p>
          <a:p>
            <a:pPr lvl="1"/>
            <a:r>
              <a:rPr lang="en-US" altLang="en-US" sz="2200" dirty="0"/>
              <a:t>Linear model</a:t>
            </a:r>
          </a:p>
          <a:p>
            <a:r>
              <a:rPr lang="en-US" altLang="en-US" sz="2600" dirty="0"/>
              <a:t>Cyclic</a:t>
            </a:r>
          </a:p>
          <a:p>
            <a:pPr lvl="1"/>
            <a:r>
              <a:rPr lang="en-US" altLang="en-US" sz="2200" dirty="0"/>
              <a:t>Process can revert to an earlier stage </a:t>
            </a:r>
          </a:p>
          <a:p>
            <a:r>
              <a:rPr lang="en-US" altLang="en-US" sz="2600" dirty="0"/>
              <a:t>Parallel</a:t>
            </a:r>
          </a:p>
          <a:p>
            <a:pPr lvl="1"/>
            <a:r>
              <a:rPr lang="en-US" altLang="en-US" sz="2200" dirty="0"/>
              <a:t>Independent alternatives are explored in parallel </a:t>
            </a:r>
          </a:p>
          <a:p>
            <a:r>
              <a:rPr lang="en-US" altLang="en-US" sz="2600" dirty="0"/>
              <a:t>Adaptive</a:t>
            </a:r>
            <a:r>
              <a:rPr lang="en-US" altLang="en-US" sz="2200" dirty="0"/>
              <a:t> (“lay tracks as you go”)</a:t>
            </a:r>
          </a:p>
          <a:p>
            <a:pPr lvl="1"/>
            <a:r>
              <a:rPr lang="en-US" altLang="en-US" sz="2200" dirty="0"/>
              <a:t>The next design strategy of the design activity is decided at the end of a given stage</a:t>
            </a:r>
          </a:p>
          <a:p>
            <a:r>
              <a:rPr lang="en-US" altLang="en-US" sz="2600" dirty="0"/>
              <a:t>Incremental</a:t>
            </a:r>
            <a:r>
              <a:rPr lang="en-US" altLang="en-US" sz="2200" dirty="0"/>
              <a:t> </a:t>
            </a:r>
          </a:p>
          <a:p>
            <a:pPr lvl="1"/>
            <a:r>
              <a:rPr lang="en-US" altLang="en-US" sz="2200" dirty="0"/>
              <a:t>Each stage of development is treated as a task of incrementally improving the existing design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3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 Viable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fundamental design tools: abstraction and modularity</a:t>
            </a:r>
          </a:p>
          <a:p>
            <a:pPr lvl="1"/>
            <a:r>
              <a:rPr lang="en-US" dirty="0"/>
              <a:t>But how? </a:t>
            </a:r>
          </a:p>
          <a:p>
            <a:r>
              <a:rPr lang="en-US" dirty="0"/>
              <a:t>Inspiration, where inspiration is needed. Predictable techniques elsewhere. </a:t>
            </a:r>
          </a:p>
          <a:p>
            <a:pPr lvl="1"/>
            <a:r>
              <a:rPr lang="en-US" dirty="0"/>
              <a:t>But where is creativity required?</a:t>
            </a:r>
          </a:p>
          <a:p>
            <a:r>
              <a:rPr lang="en-US" dirty="0"/>
              <a:t>Applying own experience or experience of others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973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Patterns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Abstraction</a:t>
            </a:r>
          </a:p>
          <a:p>
            <a:pPr lvl="1"/>
            <a:r>
              <a:rPr lang="en-US" altLang="en-US" dirty="0"/>
              <a:t>Abstraction(1):  look at details, and abstract “up” to concepts</a:t>
            </a:r>
          </a:p>
          <a:p>
            <a:pPr lvl="1"/>
            <a:r>
              <a:rPr lang="en-US" altLang="en-US" dirty="0"/>
              <a:t>Abstraction(2):  choose concepts, then add detailed substructure, and move “down”</a:t>
            </a:r>
          </a:p>
          <a:p>
            <a:r>
              <a:rPr lang="en-US" altLang="en-US" dirty="0"/>
              <a:t>Separation of Concerns</a:t>
            </a:r>
          </a:p>
          <a:p>
            <a:r>
              <a:rPr lang="en-US" dirty="0"/>
              <a:t>Architectural Patterns &amp; Styles</a:t>
            </a:r>
          </a:p>
          <a:p>
            <a:pPr lvl="1"/>
            <a:r>
              <a:rPr lang="en-US" dirty="0"/>
              <a:t>Layered</a:t>
            </a:r>
          </a:p>
          <a:p>
            <a:pPr lvl="1"/>
            <a:r>
              <a:rPr lang="en-US" dirty="0"/>
              <a:t>Model View Controller (MVC)</a:t>
            </a:r>
          </a:p>
          <a:p>
            <a:pPr lvl="1"/>
            <a:r>
              <a:rPr lang="en-US" dirty="0"/>
              <a:t>Client-Server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298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Controlling the Design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 the Activity: Exploring diverse approaches to the problem demands that some care be used in managing the activity</a:t>
            </a:r>
          </a:p>
          <a:p>
            <a:r>
              <a:rPr lang="en-US" dirty="0"/>
              <a:t>Review: Identify and review critical decisions</a:t>
            </a:r>
          </a:p>
          <a:p>
            <a:r>
              <a:rPr lang="en-US" dirty="0"/>
              <a:t>Cost: Relate the costs of research and design to the penalty for taking wrong decisions</a:t>
            </a:r>
          </a:p>
          <a:p>
            <a:r>
              <a:rPr lang="en-US" dirty="0"/>
              <a:t>Enforce: Insulate uncertain decisions</a:t>
            </a:r>
          </a:p>
          <a:p>
            <a:r>
              <a:rPr lang="en-US" dirty="0"/>
              <a:t>Cross Check with Requirements: Continually re-evaluate system requirements in light of what the design exploration yields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08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many cases new architectures can be created based upon experience with and improvement to pre-existing architectures</a:t>
            </a:r>
          </a:p>
          <a:p>
            <a:r>
              <a:rPr lang="en-US" dirty="0"/>
              <a:t>Requirements can use a vocabulary of known architectural choices and therefore reflect experience</a:t>
            </a:r>
          </a:p>
          <a:p>
            <a:r>
              <a:rPr lang="en-US" dirty="0"/>
              <a:t>The interaction between past design and new requirements means that many critical decisions for a new design can be identified or made as a requirement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43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Constraints on the implementation activity may help shape the design</a:t>
            </a:r>
          </a:p>
          <a:p>
            <a:r>
              <a:rPr lang="en-US" dirty="0"/>
              <a:t>Externally motivated constraints might dictate</a:t>
            </a:r>
          </a:p>
          <a:p>
            <a:pPr lvl="1"/>
            <a:r>
              <a:rPr lang="en-US" dirty="0"/>
              <a:t>Use of a middleware</a:t>
            </a:r>
          </a:p>
          <a:p>
            <a:pPr lvl="1"/>
            <a:r>
              <a:rPr lang="en-US" dirty="0"/>
              <a:t>Use of a particular programming language</a:t>
            </a:r>
          </a:p>
          <a:p>
            <a:pPr lvl="1"/>
            <a:r>
              <a:rPr lang="en-US" dirty="0"/>
              <a:t>Software reuse</a:t>
            </a:r>
          </a:p>
          <a:p>
            <a:r>
              <a:rPr lang="en-US" dirty="0"/>
              <a:t>Design and implementation may proceed cooperatively</a:t>
            </a:r>
          </a:p>
          <a:p>
            <a:r>
              <a:rPr lang="en-US" dirty="0"/>
              <a:t>Initial partial implementation activities may yield critical performance or feasibility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61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Architecture in Practice, 2nd Ed., by Len Bass, Paul Clements, Rick Kazman</a:t>
            </a:r>
          </a:p>
          <a:p>
            <a:r>
              <a:rPr lang="en-US" dirty="0">
                <a:hlinkClick r:id="rId2"/>
              </a:rPr>
              <a:t>http://www.ece.ubc.ca/~matei/EECE417/BASS/ch01.html</a:t>
            </a:r>
            <a:endParaRPr lang="en-US" dirty="0"/>
          </a:p>
          <a:p>
            <a:r>
              <a:rPr lang="en-US" dirty="0">
                <a:hlinkClick r:id="rId3"/>
              </a:rPr>
              <a:t>http://www.ics.uci.edu/~taylor/classes/211/DesignAndArchitecture.pdf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 3030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by Chathura R De Silva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50D3-8DB5-4BAF-BB76-4F5E8359DF6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8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1739</Words>
  <Application>Microsoft Office PowerPoint</Application>
  <PresentationFormat>Widescreen</PresentationFormat>
  <Paragraphs>276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Architectural Activities &amp; Design Process</vt:lpstr>
      <vt:lpstr>Architectural Process &amp; the ABC</vt:lpstr>
      <vt:lpstr>Where do Architectures come from?</vt:lpstr>
      <vt:lpstr>Architect’s Influence</vt:lpstr>
      <vt:lpstr>Architecture Business Cycle (ABC)</vt:lpstr>
      <vt:lpstr>The Architecture Business Cycle</vt:lpstr>
      <vt:lpstr>Ramifications of Architecture</vt:lpstr>
      <vt:lpstr>Architectural Activities</vt:lpstr>
      <vt:lpstr>Creating the Business Case for the System</vt:lpstr>
      <vt:lpstr>Understanding the Requirements</vt:lpstr>
      <vt:lpstr>Creating or Selecting the Architecture</vt:lpstr>
      <vt:lpstr>Documenting and Communicating the Architecture</vt:lpstr>
      <vt:lpstr>Analyzing or Evaluating the Architecture</vt:lpstr>
      <vt:lpstr>Implementing the system based on the Architecture</vt:lpstr>
      <vt:lpstr>Ensuring that the implementation Conforms to the Architecture</vt:lpstr>
      <vt:lpstr>What makes a Good Architecture?</vt:lpstr>
      <vt:lpstr>Architectural Design Process</vt:lpstr>
      <vt:lpstr>Engineering Design Process</vt:lpstr>
      <vt:lpstr>Potential Problems</vt:lpstr>
      <vt:lpstr>Alternative Design Strategies</vt:lpstr>
      <vt:lpstr>Identifying a Viable Strategy</vt:lpstr>
      <vt:lpstr>Tools &amp; Patterns of Software Engineering</vt:lpstr>
      <vt:lpstr>Controlling the Design Strategy</vt:lpstr>
      <vt:lpstr>Insights from Requirements</vt:lpstr>
      <vt:lpstr>Insights from Implementation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Attributes</dc:title>
  <dc:creator>Chathura De Silva</dc:creator>
  <cp:lastModifiedBy>Chathura De Silva</cp:lastModifiedBy>
  <cp:revision>221</cp:revision>
  <dcterms:created xsi:type="dcterms:W3CDTF">2017-02-22T08:25:01Z</dcterms:created>
  <dcterms:modified xsi:type="dcterms:W3CDTF">2018-02-22T05:39:45Z</dcterms:modified>
</cp:coreProperties>
</file>